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8" r:id="rId3"/>
    <p:sldId id="275" r:id="rId4"/>
    <p:sldId id="277" r:id="rId5"/>
    <p:sldId id="279" r:id="rId6"/>
    <p:sldId id="273" r:id="rId7"/>
    <p:sldId id="265" r:id="rId8"/>
    <p:sldId id="282" r:id="rId9"/>
    <p:sldId id="283" r:id="rId10"/>
    <p:sldId id="286" r:id="rId11"/>
    <p:sldId id="287" r:id="rId12"/>
    <p:sldId id="284" r:id="rId13"/>
    <p:sldId id="285" r:id="rId14"/>
    <p:sldId id="288" r:id="rId15"/>
    <p:sldId id="266" r:id="rId16"/>
    <p:sldId id="289" r:id="rId17"/>
    <p:sldId id="267" r:id="rId18"/>
    <p:sldId id="268" r:id="rId19"/>
    <p:sldId id="269" r:id="rId20"/>
    <p:sldId id="270" r:id="rId21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0302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5584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5197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7798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4658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088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498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61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489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925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41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3F0119-99E8-4B39-9AE3-1AFDAA3321B4}" type="datetimeFigureOut">
              <a:rPr lang="zh-TW" altLang="en-US" smtClean="0"/>
              <a:t>2025/6/26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9A555-3861-49FC-AF8E-997F98F9818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5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edu.cdri.org.tw/xccourseapply/cont?xsmsid=0L115765309252011195&amp;sid=0N185374641785517620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>
            <a:extLst>
              <a:ext uri="{FF2B5EF4-FFF2-40B4-BE49-F238E27FC236}">
                <a16:creationId xmlns:a16="http://schemas.microsoft.com/office/drawing/2014/main" id="{C95CF852-25B4-EB48-5D84-4B7AF9A6D01A}"/>
              </a:ext>
            </a:extLst>
          </p:cNvPr>
          <p:cNvSpPr/>
          <p:nvPr/>
        </p:nvSpPr>
        <p:spPr>
          <a:xfrm>
            <a:off x="5317257" y="2706422"/>
            <a:ext cx="619482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 err="1">
                <a:latin typeface="Unbounded" pitchFamily="34" charset="0"/>
              </a:rPr>
              <a:t>購物網站系統</a:t>
            </a:r>
            <a:endParaRPr lang="en-US" sz="4400" dirty="0">
              <a:latin typeface="Unbounded" pitchFamily="34" charset="0"/>
            </a:endParaRP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9AB370BD-A1D1-6909-9B09-0A6E8830B946}"/>
              </a:ext>
            </a:extLst>
          </p:cNvPr>
          <p:cNvSpPr/>
          <p:nvPr/>
        </p:nvSpPr>
        <p:spPr>
          <a:xfrm>
            <a:off x="6005625" y="427189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組員：</a:t>
            </a:r>
            <a:r>
              <a:rPr lang="en-US" altLang="zh-TW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19_</a:t>
            </a: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張允豪</a:t>
            </a:r>
            <a:endParaRPr lang="en-US" sz="1850" dirty="0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2E9D9B67-3FAA-0D94-DF6A-982057B29BC1}"/>
              </a:ext>
            </a:extLst>
          </p:cNvPr>
          <p:cNvSpPr/>
          <p:nvPr/>
        </p:nvSpPr>
        <p:spPr>
          <a:xfrm>
            <a:off x="5089514" y="5324867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altLang="zh-TW" sz="2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Java</a:t>
            </a:r>
            <a:r>
              <a:rPr lang="zh-TW" altLang="en-US" sz="20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雲端應用開發工程師實戰養成班</a:t>
            </a:r>
            <a:endParaRPr lang="en-US" altLang="zh-TW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264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3051339-9B16-F8D1-2B54-6670F65E19EA}"/>
              </a:ext>
            </a:extLst>
          </p:cNvPr>
          <p:cNvSpPr/>
          <p:nvPr/>
        </p:nvSpPr>
        <p:spPr>
          <a:xfrm>
            <a:off x="837724" y="267723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開發目的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C2EA2AC-9720-E7D0-2018-95BCB5B020ED}"/>
              </a:ext>
            </a:extLst>
          </p:cNvPr>
          <p:cNvSpPr/>
          <p:nvPr/>
        </p:nvSpPr>
        <p:spPr>
          <a:xfrm>
            <a:off x="837724" y="3979545"/>
            <a:ext cx="3200876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打造 </a:t>
            </a:r>
            <a:r>
              <a:rPr lang="en-US" altLang="zh-TW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C2C </a:t>
            </a: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電子商務平台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2CC4251-045F-A735-674C-7674D5575551}"/>
              </a:ext>
            </a:extLst>
          </p:cNvPr>
          <p:cNvSpPr/>
          <p:nvPr/>
        </p:nvSpPr>
        <p:spPr>
          <a:xfrm>
            <a:off x="837724" y="4570809"/>
            <a:ext cx="3200876" cy="506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整合買家前台與員工後台功能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C2EA2AC-9720-E7D0-2018-95BCB5B020ED}"/>
              </a:ext>
            </a:extLst>
          </p:cNvPr>
          <p:cNvSpPr/>
          <p:nvPr/>
        </p:nvSpPr>
        <p:spPr>
          <a:xfrm>
            <a:off x="9829324" y="3881675"/>
            <a:ext cx="3200876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設計後台管理介面</a:t>
            </a:r>
            <a:endParaRPr lang="en-US" sz="240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2CC4251-045F-A735-674C-7674D5575551}"/>
              </a:ext>
            </a:extLst>
          </p:cNvPr>
          <p:cNvSpPr/>
          <p:nvPr/>
        </p:nvSpPr>
        <p:spPr>
          <a:xfrm>
            <a:off x="5333524" y="4466034"/>
            <a:ext cx="3200876" cy="90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商品分類瀏覽、搜尋、購物車、訂單管理、推薦系統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C2EA2AC-9720-E7D0-2018-95BCB5B020ED}"/>
              </a:ext>
            </a:extLst>
          </p:cNvPr>
          <p:cNvSpPr/>
          <p:nvPr/>
        </p:nvSpPr>
        <p:spPr>
          <a:xfrm>
            <a:off x="5383888" y="3881675"/>
            <a:ext cx="3200876" cy="382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400" dirty="0">
                <a:latin typeface="Cabin" pitchFamily="34" charset="0"/>
                <a:ea typeface="Cabin" pitchFamily="34" charset="-122"/>
                <a:cs typeface="Cabin" pitchFamily="34" charset="-120"/>
              </a:rPr>
              <a:t>實作完整購物流程台</a:t>
            </a:r>
            <a:endParaRPr lang="en-US" sz="2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32CC4251-045F-A735-674C-7674D5575551}"/>
              </a:ext>
            </a:extLst>
          </p:cNvPr>
          <p:cNvSpPr/>
          <p:nvPr/>
        </p:nvSpPr>
        <p:spPr>
          <a:xfrm>
            <a:off x="9829324" y="4472940"/>
            <a:ext cx="3200876" cy="90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商品、訂單、會員、推薦系統、瀏覽紀錄管理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7188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5DFD86-DAA3-E24E-C115-87E2A3946D9F}"/>
              </a:ext>
            </a:extLst>
          </p:cNvPr>
          <p:cNvSpPr/>
          <p:nvPr/>
        </p:nvSpPr>
        <p:spPr>
          <a:xfrm>
            <a:off x="694849" y="106751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系統架構</a:t>
            </a: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圖</a:t>
            </a:r>
            <a:endParaRPr lang="en-US" sz="4400" dirty="0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34F118EA-8086-EBDD-26F4-BB2241999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39" y="2369630"/>
            <a:ext cx="13746822" cy="490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13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2DEC4-A2C2-F364-8F62-8A1C4A59A339}"/>
              </a:ext>
            </a:extLst>
          </p:cNvPr>
          <p:cNvSpPr/>
          <p:nvPr/>
        </p:nvSpPr>
        <p:spPr>
          <a:xfrm>
            <a:off x="817786" y="116456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Site-Map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4031" y="995271"/>
            <a:ext cx="5299129" cy="709617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485" y="1164562"/>
            <a:ext cx="5655491" cy="692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482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2DEC4-A2C2-F364-8F62-8A1C4A59A339}"/>
              </a:ext>
            </a:extLst>
          </p:cNvPr>
          <p:cNvSpPr/>
          <p:nvPr/>
        </p:nvSpPr>
        <p:spPr>
          <a:xfrm>
            <a:off x="817786" y="116456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Site-Map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37875B8-1DFE-F4DB-F6AA-216F2802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248" y="719190"/>
            <a:ext cx="4363546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747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7F0C4F0-0F36-4ABB-1894-BDD61C4F5D4E}"/>
              </a:ext>
            </a:extLst>
          </p:cNvPr>
          <p:cNvSpPr/>
          <p:nvPr/>
        </p:nvSpPr>
        <p:spPr>
          <a:xfrm>
            <a:off x="847603" y="122419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ER</a:t>
            </a:r>
            <a:r>
              <a:rPr lang="zh-TW" alt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圖</a:t>
            </a:r>
            <a:endParaRPr lang="en-US" sz="4400" dirty="0"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</p:txBody>
      </p:sp>
      <p:pic>
        <p:nvPicPr>
          <p:cNvPr id="6" name="圖片 5" descr="一張含有 文字, 螢幕擷取畫面, 圖表, 字型 的圖片&#10;&#10;AI 產生的內容可能不正確。">
            <a:extLst>
              <a:ext uri="{FF2B5EF4-FFF2-40B4-BE49-F238E27FC236}">
                <a16:creationId xmlns:a16="http://schemas.microsoft.com/office/drawing/2014/main" id="{1F57A988-44DC-264D-2611-5A7690BC9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498" y="0"/>
            <a:ext cx="10099964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53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C17D3ED-A85C-614C-6F5F-0F8B4B8933E8}"/>
              </a:ext>
            </a:extLst>
          </p:cNvPr>
          <p:cNvSpPr/>
          <p:nvPr/>
        </p:nvSpPr>
        <p:spPr>
          <a:xfrm>
            <a:off x="6324124" y="219158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前台功能：登錄/註冊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25A2525-6238-2A2C-F363-D7B41FF84E72}"/>
              </a:ext>
            </a:extLst>
          </p:cNvPr>
          <p:cNvSpPr/>
          <p:nvPr/>
        </p:nvSpPr>
        <p:spPr>
          <a:xfrm>
            <a:off x="7101959" y="3336846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快速註冊流程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03E8AB1-B42E-162E-6AAE-453861A86BDA}"/>
              </a:ext>
            </a:extLst>
          </p:cNvPr>
          <p:cNvSpPr/>
          <p:nvPr/>
        </p:nvSpPr>
        <p:spPr>
          <a:xfrm>
            <a:off x="7101959" y="3832384"/>
            <a:ext cx="2806898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支援 Email </a:t>
            </a:r>
            <a:r>
              <a:rPr lang="en-US" sz="1850" dirty="0" err="1">
                <a:latin typeface="Cabin" pitchFamily="34" charset="0"/>
                <a:ea typeface="Cabin" pitchFamily="34" charset="-122"/>
                <a:cs typeface="Cabin" pitchFamily="34" charset="-120"/>
              </a:rPr>
              <a:t>驗證，流程簡便</a:t>
            </a:r>
            <a:endParaRPr lang="en-US" sz="185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C26A9BA4-61B2-5312-6B04-D837D63F8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540" y="1179671"/>
            <a:ext cx="418147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262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01A07B7-081B-4384-C963-FFC0D5B53663}"/>
              </a:ext>
            </a:extLst>
          </p:cNvPr>
          <p:cNvSpPr/>
          <p:nvPr/>
        </p:nvSpPr>
        <p:spPr>
          <a:xfrm>
            <a:off x="1007465" y="252140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最近看過商品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62400A2-D484-A8F3-CCF3-32E253FD6954}"/>
              </a:ext>
            </a:extLst>
          </p:cNvPr>
          <p:cNvSpPr/>
          <p:nvPr/>
        </p:nvSpPr>
        <p:spPr>
          <a:xfrm>
            <a:off x="1007465" y="3016945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追蹤瀏覽紀錄，方便用戶回顧商品</a:t>
            </a:r>
            <a:endParaRPr lang="en-US" sz="1850" dirty="0"/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061" y="2282091"/>
            <a:ext cx="9000000" cy="576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32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購物車管理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新增、修改、刪除商品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879" y="2282091"/>
            <a:ext cx="9000000" cy="315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158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訂單管理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可以查看，和一定程度的管理訂單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1625" y="2282091"/>
            <a:ext cx="7200000" cy="555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08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修改個人資料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可以修改預設的資料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067" y="2282091"/>
            <a:ext cx="5400000" cy="497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92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通知中心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查看系統或管理員發送的個人化通知訊息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775" y="2282092"/>
            <a:ext cx="9000000" cy="19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556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11157" y="255727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我的收藏</a:t>
            </a:r>
            <a:endParaRPr lang="en-US" sz="22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11157" y="305280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收藏喜愛商品並可快速加入購物車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791" y="2282091"/>
            <a:ext cx="8841459" cy="4736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917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BF2A6AB-1F7E-9633-389D-D723B15A9392}"/>
              </a:ext>
            </a:extLst>
          </p:cNvPr>
          <p:cNvSpPr/>
          <p:nvPr/>
        </p:nvSpPr>
        <p:spPr>
          <a:xfrm>
            <a:off x="768150" y="1358291"/>
            <a:ext cx="675798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latin typeface="Unbounded" pitchFamily="34" charset="0"/>
                <a:ea typeface="Unbounded" pitchFamily="34" charset="-122"/>
                <a:cs typeface="Unbounded" pitchFamily="34" charset="-120"/>
              </a:rPr>
              <a:t>前台功能</a:t>
            </a:r>
            <a:endParaRPr lang="en-US" sz="44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636048F-4C36-6D44-AA6F-5D21733034BE}"/>
              </a:ext>
            </a:extLst>
          </p:cNvPr>
          <p:cNvSpPr/>
          <p:nvPr/>
        </p:nvSpPr>
        <p:spPr>
          <a:xfrm>
            <a:off x="1058912" y="249362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zh-TW" altLang="en-US" sz="2200" dirty="0">
                <a:latin typeface="Unbounded" pitchFamily="34" charset="0"/>
                <a:ea typeface="Unbounded" pitchFamily="34" charset="-122"/>
              </a:rPr>
              <a:t>商品管理</a:t>
            </a:r>
            <a:endParaRPr lang="en-US" sz="2200" dirty="0"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6BBFCEEE-A067-D3FE-98EA-BF5239A138DB}"/>
              </a:ext>
            </a:extLst>
          </p:cNvPr>
          <p:cNvSpPr/>
          <p:nvPr/>
        </p:nvSpPr>
        <p:spPr>
          <a:xfrm>
            <a:off x="1058912" y="2989162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endParaRPr lang="en-US" sz="185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735A40E-0876-DC19-B29D-55756CC9A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153" y="246229"/>
            <a:ext cx="8109361" cy="3944432"/>
          </a:xfrm>
          <a:prstGeom prst="rect">
            <a:avLst/>
          </a:prstGeom>
        </p:spPr>
      </p:pic>
      <p:sp>
        <p:nvSpPr>
          <p:cNvPr id="8" name="Text 6">
            <a:extLst>
              <a:ext uri="{FF2B5EF4-FFF2-40B4-BE49-F238E27FC236}">
                <a16:creationId xmlns:a16="http://schemas.microsoft.com/office/drawing/2014/main" id="{1D5B5560-1CFB-0EF1-820B-C009AD3E3EBE}"/>
              </a:ext>
            </a:extLst>
          </p:cNvPr>
          <p:cNvSpPr/>
          <p:nvPr/>
        </p:nvSpPr>
        <p:spPr>
          <a:xfrm>
            <a:off x="1058912" y="2911318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1850" dirty="0">
                <a:latin typeface="Cabin" pitchFamily="34" charset="0"/>
                <a:ea typeface="Cabin" pitchFamily="34" charset="-122"/>
                <a:cs typeface="Cabin" pitchFamily="34" charset="-120"/>
              </a:rPr>
              <a:t>可以查看新增上架，和一定程度的編輯商品</a:t>
            </a:r>
            <a:endParaRPr lang="en-US" sz="1850" dirty="0">
              <a:latin typeface="Cabin" pitchFamily="34" charset="0"/>
              <a:ea typeface="Cabin" pitchFamily="34" charset="-122"/>
              <a:cs typeface="Cabin" pitchFamily="34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57022927-96D9-CD30-5601-FA1CCBE4B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905" y="4270937"/>
            <a:ext cx="6316825" cy="381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974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3BB6AD06-1FAD-E83C-8A0F-5E1DB2F28494}"/>
              </a:ext>
            </a:extLst>
          </p:cNvPr>
          <p:cNvSpPr/>
          <p:nvPr/>
        </p:nvSpPr>
        <p:spPr>
          <a:xfrm>
            <a:off x="7661449" y="241900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後台功能：商品管理</a:t>
            </a:r>
            <a:endParaRPr lang="en-US" sz="440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A33C417B-80A3-1650-D9D1-6E4EF0A19D1E}"/>
              </a:ext>
            </a:extLst>
          </p:cNvPr>
          <p:cNvSpPr/>
          <p:nvPr/>
        </p:nvSpPr>
        <p:spPr>
          <a:xfrm>
            <a:off x="7661449" y="3481996"/>
            <a:ext cx="179427" cy="351949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008A43-82F8-359E-FEB4-8F6DACD4D05D}"/>
              </a:ext>
            </a:extLst>
          </p:cNvPr>
          <p:cNvSpPr/>
          <p:nvPr/>
        </p:nvSpPr>
        <p:spPr>
          <a:xfrm>
            <a:off x="8199849" y="34819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商品新增與修改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62AEC18-DF97-B119-A3E5-F51E0F2CE947}"/>
              </a:ext>
            </a:extLst>
          </p:cNvPr>
          <p:cNvSpPr/>
          <p:nvPr/>
        </p:nvSpPr>
        <p:spPr>
          <a:xfrm>
            <a:off x="8020422" y="4073261"/>
            <a:ext cx="179427" cy="351949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8E4F750-718E-D102-AEF8-2593A6462AAD}"/>
              </a:ext>
            </a:extLst>
          </p:cNvPr>
          <p:cNvSpPr/>
          <p:nvPr/>
        </p:nvSpPr>
        <p:spPr>
          <a:xfrm>
            <a:off x="8558823" y="40732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商品分類管理</a:t>
            </a:r>
            <a:endParaRPr lang="en-US" sz="2200" dirty="0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5432BDA9-4F95-67D5-BEE4-D46E966D3BBE}"/>
              </a:ext>
            </a:extLst>
          </p:cNvPr>
          <p:cNvSpPr/>
          <p:nvPr/>
        </p:nvSpPr>
        <p:spPr>
          <a:xfrm>
            <a:off x="8379515" y="4664525"/>
            <a:ext cx="179427" cy="351949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A5E5E96-FE36-AEC1-EAF3-180A8F4F51AC}"/>
              </a:ext>
            </a:extLst>
          </p:cNvPr>
          <p:cNvSpPr/>
          <p:nvPr/>
        </p:nvSpPr>
        <p:spPr>
          <a:xfrm>
            <a:off x="8917915" y="46645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圖片上傳與庫存管控</a:t>
            </a:r>
            <a:endParaRPr lang="en-US" sz="2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45A4EB3-EB5B-68F8-A630-E9D47F19E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89" y="606732"/>
            <a:ext cx="6968953" cy="36601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DE34FE1-B474-3B95-C075-31B31709C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291" y="4425210"/>
            <a:ext cx="6931551" cy="2277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485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>
            <a:extLst>
              <a:ext uri="{FF2B5EF4-FFF2-40B4-BE49-F238E27FC236}">
                <a16:creationId xmlns:a16="http://schemas.microsoft.com/office/drawing/2014/main" id="{3BB6AD06-1FAD-E83C-8A0F-5E1DB2F28494}"/>
              </a:ext>
            </a:extLst>
          </p:cNvPr>
          <p:cNvSpPr/>
          <p:nvPr/>
        </p:nvSpPr>
        <p:spPr>
          <a:xfrm>
            <a:off x="7661449" y="241900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</a:t>
            </a: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：</a:t>
            </a:r>
            <a:r>
              <a:rPr lang="zh-TW" alt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評論管理</a:t>
            </a:r>
            <a:endParaRPr lang="en-US" sz="4400" dirty="0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A33C417B-80A3-1650-D9D1-6E4EF0A19D1E}"/>
              </a:ext>
            </a:extLst>
          </p:cNvPr>
          <p:cNvSpPr/>
          <p:nvPr/>
        </p:nvSpPr>
        <p:spPr>
          <a:xfrm>
            <a:off x="7661449" y="3481996"/>
            <a:ext cx="179427" cy="351949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CA008A43-82F8-359E-FEB4-8F6DACD4D05D}"/>
              </a:ext>
            </a:extLst>
          </p:cNvPr>
          <p:cNvSpPr/>
          <p:nvPr/>
        </p:nvSpPr>
        <p:spPr>
          <a:xfrm>
            <a:off x="8199849" y="348199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</a:rPr>
              <a:t>可以審核評論</a:t>
            </a:r>
            <a:endParaRPr lang="en-US" sz="22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D62AEC18-DF97-B119-A3E5-F51E0F2CE947}"/>
              </a:ext>
            </a:extLst>
          </p:cNvPr>
          <p:cNvSpPr/>
          <p:nvPr/>
        </p:nvSpPr>
        <p:spPr>
          <a:xfrm>
            <a:off x="8020422" y="4073261"/>
            <a:ext cx="179427" cy="351949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18" name="Text 4">
            <a:extLst>
              <a:ext uri="{FF2B5EF4-FFF2-40B4-BE49-F238E27FC236}">
                <a16:creationId xmlns:a16="http://schemas.microsoft.com/office/drawing/2014/main" id="{88E4F750-718E-D102-AEF8-2593A6462AAD}"/>
              </a:ext>
            </a:extLst>
          </p:cNvPr>
          <p:cNvSpPr/>
          <p:nvPr/>
        </p:nvSpPr>
        <p:spPr>
          <a:xfrm>
            <a:off x="8558823" y="407326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solidFill>
                  <a:srgbClr val="CAD6DE"/>
                </a:solidFill>
                <a:latin typeface="Unbounded" pitchFamily="34" charset="0"/>
              </a:rPr>
              <a:t>可以執行</a:t>
            </a:r>
            <a:r>
              <a:rPr lang="en-US" altLang="zh-TW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</a:rPr>
              <a:t>AI</a:t>
            </a:r>
            <a:r>
              <a:rPr lang="zh-TW" altLang="en-US" sz="2200" dirty="0">
                <a:solidFill>
                  <a:srgbClr val="CAD6DE"/>
                </a:solidFill>
                <a:latin typeface="Unbounded" pitchFamily="34" charset="0"/>
              </a:rPr>
              <a:t>審核 </a:t>
            </a:r>
            <a:r>
              <a:rPr lang="en-US" altLang="zh-TW" sz="2200" dirty="0" err="1">
                <a:solidFill>
                  <a:srgbClr val="CAD6DE"/>
                </a:solidFill>
                <a:latin typeface="Unbounded" pitchFamily="34" charset="0"/>
              </a:rPr>
              <a:t>Ollama</a:t>
            </a:r>
            <a:r>
              <a:rPr lang="en-US" altLang="zh-TW" sz="2200" dirty="0">
                <a:solidFill>
                  <a:srgbClr val="CAD6DE"/>
                </a:solidFill>
                <a:latin typeface="Unbounded" pitchFamily="34" charset="0"/>
              </a:rPr>
              <a:t> model:Qwen2:</a:t>
            </a:r>
            <a:endParaRPr lang="en-US" sz="2200" dirty="0">
              <a:solidFill>
                <a:srgbClr val="CAD6DE"/>
              </a:solidFill>
              <a:latin typeface="Unbounded" pitchFamily="34" charset="0"/>
              <a:ea typeface="Unbounded" pitchFamily="34" charset="-122"/>
            </a:endParaRPr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5432BDA9-4F95-67D5-BEE4-D46E966D3BBE}"/>
              </a:ext>
            </a:extLst>
          </p:cNvPr>
          <p:cNvSpPr/>
          <p:nvPr/>
        </p:nvSpPr>
        <p:spPr>
          <a:xfrm>
            <a:off x="8379515" y="4664525"/>
            <a:ext cx="179427" cy="351949"/>
          </a:xfrm>
          <a:prstGeom prst="roundRect">
            <a:avLst>
              <a:gd name="adj" fmla="val 20012"/>
            </a:avLst>
          </a:prstGeom>
          <a:solidFill>
            <a:srgbClr val="304755"/>
          </a:solidFill>
          <a:ln/>
        </p:spPr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FA5E5E96-FE36-AEC1-EAF3-180A8F4F51AC}"/>
              </a:ext>
            </a:extLst>
          </p:cNvPr>
          <p:cNvSpPr/>
          <p:nvPr/>
        </p:nvSpPr>
        <p:spPr>
          <a:xfrm>
            <a:off x="8917915" y="466452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zh-TW" altLang="en-US" sz="2200" dirty="0">
                <a:solidFill>
                  <a:srgbClr val="CAD6DE"/>
                </a:solidFill>
                <a:latin typeface="Unbounded" pitchFamily="34" charset="0"/>
              </a:rPr>
              <a:t>可以刪除評論</a:t>
            </a:r>
            <a:endParaRPr lang="en-US" sz="22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7CA52FB-2274-2148-F61E-5924170DA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5" y="3362882"/>
            <a:ext cx="7487917" cy="2124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672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282119-4EA9-A517-DBDB-E3E85B403388}"/>
              </a:ext>
            </a:extLst>
          </p:cNvPr>
          <p:cNvSpPr/>
          <p:nvPr/>
        </p:nvSpPr>
        <p:spPr>
          <a:xfrm>
            <a:off x="837724" y="10708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後台功能：訂單管理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3BF335-732B-06E6-28AD-60684F263D36}"/>
              </a:ext>
            </a:extLst>
          </p:cNvPr>
          <p:cNvSpPr/>
          <p:nvPr/>
        </p:nvSpPr>
        <p:spPr>
          <a:xfrm>
            <a:off x="919917" y="21573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訂單查看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C12874B-9579-9660-A9EA-0418C27E7014}"/>
              </a:ext>
            </a:extLst>
          </p:cNvPr>
          <p:cNvSpPr/>
          <p:nvPr/>
        </p:nvSpPr>
        <p:spPr>
          <a:xfrm>
            <a:off x="919917" y="2748646"/>
            <a:ext cx="392858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查看詳細訂單與列表資訊</a:t>
            </a:r>
            <a:endParaRPr lang="en-US" sz="1850" dirty="0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13555AF-4D65-7AFC-2214-CF047D63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502" y="418394"/>
            <a:ext cx="8134029" cy="382992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46776221-BA84-4D2B-182B-2C953FB56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83" y="3370985"/>
            <a:ext cx="4615626" cy="46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8839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2FB9310-4B85-E2EC-BA0D-8C555808BCA1}"/>
              </a:ext>
            </a:extLst>
          </p:cNvPr>
          <p:cNvSpPr/>
          <p:nvPr/>
        </p:nvSpPr>
        <p:spPr>
          <a:xfrm>
            <a:off x="6324124" y="210645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後台功能：使用者管理</a:t>
            </a:r>
            <a:endParaRPr lang="en-US" sz="44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FE1C90B-B77A-517E-C76E-CEA973336C09}"/>
              </a:ext>
            </a:extLst>
          </p:cNvPr>
          <p:cNvSpPr/>
          <p:nvPr/>
        </p:nvSpPr>
        <p:spPr>
          <a:xfrm>
            <a:off x="6324124" y="3169444"/>
            <a:ext cx="3614618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48DA8B2-7BF2-2D26-5396-989491B30F15}"/>
              </a:ext>
            </a:extLst>
          </p:cNvPr>
          <p:cNvSpPr/>
          <p:nvPr/>
        </p:nvSpPr>
        <p:spPr>
          <a:xfrm>
            <a:off x="6563439" y="34087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用戶資料管理</a:t>
            </a:r>
            <a:endParaRPr lang="en-US" sz="22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95CB391-9D5A-148C-C8B0-56E4F14A860F}"/>
              </a:ext>
            </a:extLst>
          </p:cNvPr>
          <p:cNvSpPr/>
          <p:nvPr/>
        </p:nvSpPr>
        <p:spPr>
          <a:xfrm>
            <a:off x="6563439" y="3904297"/>
            <a:ext cx="31359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TW" altLang="en-US" sz="1850" dirty="0">
                <a:solidFill>
                  <a:srgbClr val="CAD6DE"/>
                </a:solidFill>
                <a:latin typeface="Cabin" pitchFamily="34" charset="0"/>
              </a:rPr>
              <a:t>重設密碼</a:t>
            </a:r>
            <a:endParaRPr lang="en-US" sz="18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8EDE9A02-B88A-90EB-1C23-EC94FE552F1D}"/>
              </a:ext>
            </a:extLst>
          </p:cNvPr>
          <p:cNvSpPr/>
          <p:nvPr/>
        </p:nvSpPr>
        <p:spPr>
          <a:xfrm>
            <a:off x="10178058" y="3169444"/>
            <a:ext cx="3614618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74E5190-BE68-FDE7-D4A0-DCD24C488AE1}"/>
              </a:ext>
            </a:extLst>
          </p:cNvPr>
          <p:cNvSpPr/>
          <p:nvPr/>
        </p:nvSpPr>
        <p:spPr>
          <a:xfrm>
            <a:off x="10417373" y="34087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權限設定</a:t>
            </a:r>
            <a:endParaRPr lang="en-US" sz="22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2FFF72BB-F1B7-B254-8443-418CD9DEB1B8}"/>
              </a:ext>
            </a:extLst>
          </p:cNvPr>
          <p:cNvSpPr/>
          <p:nvPr/>
        </p:nvSpPr>
        <p:spPr>
          <a:xfrm>
            <a:off x="10417373" y="3904297"/>
            <a:ext cx="31359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區分買家、賣家與管理員角色</a:t>
            </a:r>
            <a:endParaRPr lang="en-US" sz="18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76C3A99A-72AD-E257-54EB-021DC6901740}"/>
              </a:ext>
            </a:extLst>
          </p:cNvPr>
          <p:cNvSpPr/>
          <p:nvPr/>
        </p:nvSpPr>
        <p:spPr>
          <a:xfrm>
            <a:off x="6324124" y="4765953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4EA59F5-94EC-671B-BA64-C9589F1B13C9}"/>
              </a:ext>
            </a:extLst>
          </p:cNvPr>
          <p:cNvSpPr/>
          <p:nvPr/>
        </p:nvSpPr>
        <p:spPr>
          <a:xfrm>
            <a:off x="6563439" y="500526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封鎖與解鎖</a:t>
            </a:r>
            <a:endParaRPr lang="en-US" sz="2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05DA9B1-DE03-EB76-D4AD-0087996F857A}"/>
              </a:ext>
            </a:extLst>
          </p:cNvPr>
          <p:cNvSpPr/>
          <p:nvPr/>
        </p:nvSpPr>
        <p:spPr>
          <a:xfrm>
            <a:off x="6563439" y="5500807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管理使用者存取權限</a:t>
            </a:r>
            <a:endParaRPr lang="en-US" sz="1850" dirty="0"/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2726CE08-A13E-4BC1-EB98-B377DB1F2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6" y="748943"/>
            <a:ext cx="6219778" cy="707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83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A25FD04-881C-3EC3-752C-F41973696412}"/>
              </a:ext>
            </a:extLst>
          </p:cNvPr>
          <p:cNvSpPr/>
          <p:nvPr/>
        </p:nvSpPr>
        <p:spPr>
          <a:xfrm>
            <a:off x="837724" y="1839516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後台功能：推薦系統與搜尋紀錄</a:t>
            </a:r>
            <a:endParaRPr lang="en-US" sz="44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BC43B4AB-2C8F-7BA6-EFEB-70BDEF76B4C0}"/>
              </a:ext>
            </a:extLst>
          </p:cNvPr>
          <p:cNvSpPr/>
          <p:nvPr/>
        </p:nvSpPr>
        <p:spPr>
          <a:xfrm>
            <a:off x="837724" y="3606522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378F7F5-789B-2AF5-0F61-F8E4EC130904}"/>
              </a:ext>
            </a:extLst>
          </p:cNvPr>
          <p:cNvSpPr/>
          <p:nvPr/>
        </p:nvSpPr>
        <p:spPr>
          <a:xfrm>
            <a:off x="937974" y="3664506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3B8F347-6623-DEB1-0AC6-0F75889CC9EA}"/>
              </a:ext>
            </a:extLst>
          </p:cNvPr>
          <p:cNvSpPr/>
          <p:nvPr/>
        </p:nvSpPr>
        <p:spPr>
          <a:xfrm>
            <a:off x="1615559" y="3688794"/>
            <a:ext cx="280689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推薦商品管理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39BACA9-D0BB-DFEA-0D21-CA26FA0C691B}"/>
              </a:ext>
            </a:extLst>
          </p:cNvPr>
          <p:cNvSpPr/>
          <p:nvPr/>
        </p:nvSpPr>
        <p:spPr>
          <a:xfrm>
            <a:off x="1615559" y="4184332"/>
            <a:ext cx="280689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設定熱門商品</a:t>
            </a:r>
            <a:endParaRPr lang="en-US" sz="185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35EDF63-141E-87D5-5A28-F52B8647E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433" y="2770086"/>
            <a:ext cx="9559515" cy="2541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3420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86F5ABA-0B58-8CD4-CC56-B5665FB81ADD}"/>
              </a:ext>
            </a:extLst>
          </p:cNvPr>
          <p:cNvSpPr/>
          <p:nvPr/>
        </p:nvSpPr>
        <p:spPr>
          <a:xfrm>
            <a:off x="837724" y="246792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技術總結與未來展望</a:t>
            </a:r>
            <a:endParaRPr lang="en-US" sz="4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FEE2E1-1E85-EEEE-7325-2D108C73AF3D}"/>
              </a:ext>
            </a:extLst>
          </p:cNvPr>
          <p:cNvSpPr/>
          <p:nvPr/>
        </p:nvSpPr>
        <p:spPr>
          <a:xfrm>
            <a:off x="837724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技術棧優勢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1C51FCE-3E66-78F1-6A11-6A5C36BF09F3}"/>
              </a:ext>
            </a:extLst>
          </p:cNvPr>
          <p:cNvSpPr/>
          <p:nvPr/>
        </p:nvSpPr>
        <p:spPr>
          <a:xfrm>
            <a:off x="837724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React 靈活前端</a:t>
            </a:r>
            <a:endParaRPr lang="en-US" sz="1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0FCDB0-C86F-254E-A3E2-9DCE2297BBA6}"/>
              </a:ext>
            </a:extLst>
          </p:cNvPr>
          <p:cNvSpPr/>
          <p:nvPr/>
        </p:nvSpPr>
        <p:spPr>
          <a:xfrm>
            <a:off x="837724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Spring Boot 強大後端</a:t>
            </a:r>
            <a:endParaRPr lang="en-US" sz="18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21B18F-99E9-492C-5B8C-DE9CA44812F5}"/>
              </a:ext>
            </a:extLst>
          </p:cNvPr>
          <p:cNvSpPr/>
          <p:nvPr/>
        </p:nvSpPr>
        <p:spPr>
          <a:xfrm>
            <a:off x="837724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MySQL 穩定資料庫</a:t>
            </a:r>
            <a:endParaRPr lang="en-US" sz="18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6BEF0FC-6390-1497-F4EC-574402A2FE09}"/>
              </a:ext>
            </a:extLst>
          </p:cNvPr>
          <p:cNvSpPr/>
          <p:nvPr/>
        </p:nvSpPr>
        <p:spPr>
          <a:xfrm>
            <a:off x="7614761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未來功能擴展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252D43-CF65-35D9-E01C-9E4F536F7CC7}"/>
              </a:ext>
            </a:extLst>
          </p:cNvPr>
          <p:cNvSpPr/>
          <p:nvPr/>
        </p:nvSpPr>
        <p:spPr>
          <a:xfrm>
            <a:off x="7614761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整合真實物流與支付</a:t>
            </a:r>
            <a:endParaRPr lang="en-US" sz="18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611A246-5FF8-10E3-B3D6-9B1DA498610E}"/>
              </a:ext>
            </a:extLst>
          </p:cNvPr>
          <p:cNvSpPr/>
          <p:nvPr/>
        </p:nvSpPr>
        <p:spPr>
          <a:xfrm>
            <a:off x="7614761" y="489513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zh-TW" alt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完善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推薦系統</a:t>
            </a:r>
            <a:endParaRPr lang="en-US" sz="18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0062358-1EDA-B75A-D993-678F1ABC08F9}"/>
              </a:ext>
            </a:extLst>
          </p:cNvPr>
          <p:cNvSpPr/>
          <p:nvPr/>
        </p:nvSpPr>
        <p:spPr>
          <a:xfrm>
            <a:off x="7614760" y="5935039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zh-TW" alt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完善通知</a:t>
            </a:r>
            <a:r>
              <a:rPr lang="en-US" altLang="zh-TW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系統</a:t>
            </a:r>
            <a:endParaRPr lang="en-US" sz="18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3AA341C-D24A-D785-800B-656C55B37B2D}"/>
              </a:ext>
            </a:extLst>
          </p:cNvPr>
          <p:cNvSpPr/>
          <p:nvPr/>
        </p:nvSpPr>
        <p:spPr>
          <a:xfrm>
            <a:off x="7614760" y="537931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zh-TW" alt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完善訂單</a:t>
            </a:r>
            <a:r>
              <a:rPr lang="en-US" altLang="zh-TW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物流系統</a:t>
            </a:r>
            <a:endParaRPr lang="en-US" sz="1850" dirty="0"/>
          </a:p>
        </p:txBody>
      </p:sp>
    </p:spTree>
    <p:extLst>
      <p:ext uri="{BB962C8B-B14F-4D97-AF65-F5344CB8AC3E}">
        <p14:creationId xmlns:p14="http://schemas.microsoft.com/office/powerpoint/2010/main" val="3389910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1080</TotalTime>
  <Words>224</Words>
  <Application>Microsoft Office PowerPoint</Application>
  <PresentationFormat>自訂</PresentationFormat>
  <Paragraphs>70</Paragraphs>
  <Slides>20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Unbounded</vt:lpstr>
      <vt:lpstr>Aptos</vt:lpstr>
      <vt:lpstr>Aptos Display</vt:lpstr>
      <vt:lpstr>Arial</vt:lpstr>
      <vt:lpstr>Cabin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National Taipei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NTPU</dc:creator>
  <cp:lastModifiedBy>NTPU</cp:lastModifiedBy>
  <cp:revision>21</cp:revision>
  <dcterms:created xsi:type="dcterms:W3CDTF">2025-05-09T05:56:55Z</dcterms:created>
  <dcterms:modified xsi:type="dcterms:W3CDTF">2025-06-26T08:10:18Z</dcterms:modified>
</cp:coreProperties>
</file>