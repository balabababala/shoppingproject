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59" r:id="rId4"/>
    <p:sldId id="274" r:id="rId5"/>
    <p:sldId id="275" r:id="rId6"/>
    <p:sldId id="280" r:id="rId7"/>
    <p:sldId id="277" r:id="rId8"/>
    <p:sldId id="278" r:id="rId9"/>
    <p:sldId id="279" r:id="rId10"/>
    <p:sldId id="273" r:id="rId11"/>
    <p:sldId id="282" r:id="rId12"/>
    <p:sldId id="283" r:id="rId13"/>
    <p:sldId id="284" r:id="rId14"/>
    <p:sldId id="285" r:id="rId15"/>
    <p:sldId id="286" r:id="rId16"/>
    <p:sldId id="287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0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302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584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197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779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465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88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498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61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3489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9259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541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3F0119-99E8-4B39-9AE3-1AFDAA3321B4}" type="datetimeFigureOut">
              <a:rPr lang="zh-TW" altLang="en-US" smtClean="0"/>
              <a:t>2025/6/23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45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preencoded.png">
            <a:extLst>
              <a:ext uri="{FF2B5EF4-FFF2-40B4-BE49-F238E27FC236}">
                <a16:creationId xmlns="" xmlns:a16="http://schemas.microsoft.com/office/drawing/2014/main" id="{04CEEAB9-DB57-FE01-4F9D-D411E8E1E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41" name="Text 0">
            <a:extLst>
              <a:ext uri="{FF2B5EF4-FFF2-40B4-BE49-F238E27FC236}">
                <a16:creationId xmlns="" xmlns:a16="http://schemas.microsoft.com/office/drawing/2014/main" id="{C95CF852-25B4-EB48-5D84-4B7AF9A6D01A}"/>
              </a:ext>
            </a:extLst>
          </p:cNvPr>
          <p:cNvSpPr/>
          <p:nvPr/>
        </p:nvSpPr>
        <p:spPr>
          <a:xfrm>
            <a:off x="6324124" y="2069425"/>
            <a:ext cx="6194822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err="1">
                <a:solidFill>
                  <a:srgbClr val="FFFFFF"/>
                </a:solidFill>
                <a:latin typeface="Unbounded" pitchFamily="34" charset="0"/>
              </a:rPr>
              <a:t>購物網站系統</a:t>
            </a:r>
            <a:endParaRPr lang="en-US" sz="4400" dirty="0">
              <a:solidFill>
                <a:srgbClr val="FFFFFF"/>
              </a:solidFill>
              <a:latin typeface="Unbounded" pitchFamily="34" charset="0"/>
            </a:endParaRPr>
          </a:p>
        </p:txBody>
      </p:sp>
      <p:sp>
        <p:nvSpPr>
          <p:cNvPr id="42" name="Text 1">
            <a:extLst>
              <a:ext uri="{FF2B5EF4-FFF2-40B4-BE49-F238E27FC236}">
                <a16:creationId xmlns="" xmlns:a16="http://schemas.microsoft.com/office/drawing/2014/main" id="{9B3DF7CB-7692-FF2B-09DA-7A2F18142EA4}"/>
              </a:ext>
            </a:extLst>
          </p:cNvPr>
          <p:cNvSpPr/>
          <p:nvPr/>
        </p:nvSpPr>
        <p:spPr>
          <a:xfrm>
            <a:off x="6324124" y="3132415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專案名稱：購物網站系統</a:t>
            </a:r>
            <a:endParaRPr lang="en-US" sz="1850" dirty="0"/>
          </a:p>
        </p:txBody>
      </p:sp>
      <p:sp>
        <p:nvSpPr>
          <p:cNvPr id="43" name="Text 2">
            <a:extLst>
              <a:ext uri="{FF2B5EF4-FFF2-40B4-BE49-F238E27FC236}">
                <a16:creationId xmlns="" xmlns:a16="http://schemas.microsoft.com/office/drawing/2014/main" id="{4EFFF814-28DB-132B-F97B-D78810258A97}"/>
              </a:ext>
            </a:extLst>
          </p:cNvPr>
          <p:cNvSpPr/>
          <p:nvPr/>
        </p:nvSpPr>
        <p:spPr>
          <a:xfrm>
            <a:off x="6324124" y="3784640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技術架構：React + Spring + MySQL</a:t>
            </a:r>
            <a:endParaRPr lang="en-US" sz="1850" dirty="0"/>
          </a:p>
        </p:txBody>
      </p:sp>
      <p:sp>
        <p:nvSpPr>
          <p:cNvPr id="44" name="Text 3">
            <a:extLst>
              <a:ext uri="{FF2B5EF4-FFF2-40B4-BE49-F238E27FC236}">
                <a16:creationId xmlns="" xmlns:a16="http://schemas.microsoft.com/office/drawing/2014/main" id="{9AB370BD-A1D1-6909-9B09-0A6E8830B946}"/>
              </a:ext>
            </a:extLst>
          </p:cNvPr>
          <p:cNvSpPr/>
          <p:nvPr/>
        </p:nvSpPr>
        <p:spPr>
          <a:xfrm>
            <a:off x="6324124" y="4436864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 smtClean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組員</a:t>
            </a:r>
            <a:r>
              <a:rPr lang="en-US" sz="1850" dirty="0" smtClean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：</a:t>
            </a:r>
            <a:r>
              <a:rPr lang="zh-TW" altLang="en-US" sz="1850" dirty="0" smtClean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張允豪</a:t>
            </a:r>
            <a:endParaRPr lang="en-US" sz="1850" dirty="0"/>
          </a:p>
        </p:txBody>
      </p:sp>
      <p:sp>
        <p:nvSpPr>
          <p:cNvPr id="45" name="Text 4">
            <a:extLst>
              <a:ext uri="{FF2B5EF4-FFF2-40B4-BE49-F238E27FC236}">
                <a16:creationId xmlns="" xmlns:a16="http://schemas.microsoft.com/office/drawing/2014/main" id="{1C81B240-1D8B-64E3-7732-8DF6BDD4AFDB}"/>
              </a:ext>
            </a:extLst>
          </p:cNvPr>
          <p:cNvSpPr/>
          <p:nvPr/>
        </p:nvSpPr>
        <p:spPr>
          <a:xfrm>
            <a:off x="6324124" y="5089088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日期：[日期]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2192643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43051339-9B16-F8D1-2B54-6670F65E19EA}"/>
              </a:ext>
            </a:extLst>
          </p:cNvPr>
          <p:cNvSpPr/>
          <p:nvPr/>
        </p:nvSpPr>
        <p:spPr>
          <a:xfrm>
            <a:off x="837724" y="2677239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zh-TW" alt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開發目的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837724" y="397954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打造 </a:t>
            </a:r>
            <a:r>
              <a:rPr lang="en-US" altLang="zh-TW" sz="24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C2C </a:t>
            </a:r>
            <a:r>
              <a:rPr lang="zh-TW" altLang="en-US" sz="24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電子商務平台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837724" y="4570809"/>
            <a:ext cx="3200876" cy="506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 smtClean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整合</a:t>
            </a: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買家前台與員工後台功能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9829324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設計後台管理介面</a:t>
            </a:r>
            <a:endParaRPr lang="en-US" sz="240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5333524" y="4466034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商品分類瀏覽、搜尋、購物車、訂單管理、推薦系統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5383888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實作完整購物流程</a:t>
            </a:r>
            <a:r>
              <a:rPr lang="zh-TW" altLang="en-US" sz="2400" dirty="0" smtClean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台</a:t>
            </a:r>
            <a:endParaRPr lang="en-US" sz="2200" dirty="0"/>
          </a:p>
        </p:txBody>
      </p:sp>
      <p:sp>
        <p:nvSpPr>
          <p:cNvPr id="10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9829324" y="4472940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商品、訂單、會員、推薦系統、瀏覽紀錄管理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188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0E5DFD86-DAA3-E24E-C115-87E2A3946D9F}"/>
              </a:ext>
            </a:extLst>
          </p:cNvPr>
          <p:cNvSpPr/>
          <p:nvPr/>
        </p:nvSpPr>
        <p:spPr>
          <a:xfrm>
            <a:off x="837724" y="2677239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系統架構概覽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837724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架構特色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837724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採用前後端分離，提升開發與維護效率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="" xmlns:a16="http://schemas.microsoft.com/office/drawing/2014/main" id="{E337984F-AB19-E82B-CA1A-1020BBE5AFF4}"/>
              </a:ext>
            </a:extLst>
          </p:cNvPr>
          <p:cNvSpPr/>
          <p:nvPr/>
        </p:nvSpPr>
        <p:spPr>
          <a:xfrm>
            <a:off x="4230053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前端技術</a:t>
            </a:r>
            <a:endParaRPr lang="en-US" sz="2200" dirty="0"/>
          </a:p>
        </p:txBody>
      </p:sp>
      <p:sp>
        <p:nvSpPr>
          <p:cNvPr id="6" name="Text 4">
            <a:extLst>
              <a:ext uri="{FF2B5EF4-FFF2-40B4-BE49-F238E27FC236}">
                <a16:creationId xmlns="" xmlns:a16="http://schemas.microsoft.com/office/drawing/2014/main" id="{AF2BE53D-7A2C-72E3-9CC9-CDE9FD836F92}"/>
              </a:ext>
            </a:extLst>
          </p:cNvPr>
          <p:cNvSpPr/>
          <p:nvPr/>
        </p:nvSpPr>
        <p:spPr>
          <a:xfrm>
            <a:off x="4230053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React 提供互動豐富的使用者介面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233D3FC9-5AEF-8357-5893-F40B55562D83}"/>
              </a:ext>
            </a:extLst>
          </p:cNvPr>
          <p:cNvSpPr/>
          <p:nvPr/>
        </p:nvSpPr>
        <p:spPr>
          <a:xfrm>
            <a:off x="7622381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後端技術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9EC85AF8-6AA8-2BD9-194E-FEA9430AE04C}"/>
              </a:ext>
            </a:extLst>
          </p:cNvPr>
          <p:cNvSpPr/>
          <p:nvPr/>
        </p:nvSpPr>
        <p:spPr>
          <a:xfrm>
            <a:off x="7622381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Spring Boot 負責業務邏輯與資料處理</a:t>
            </a:r>
            <a:endParaRPr lang="en-US" sz="1850" dirty="0"/>
          </a:p>
        </p:txBody>
      </p:sp>
      <p:sp>
        <p:nvSpPr>
          <p:cNvPr id="9" name="Text 7">
            <a:extLst>
              <a:ext uri="{FF2B5EF4-FFF2-40B4-BE49-F238E27FC236}">
                <a16:creationId xmlns="" xmlns:a16="http://schemas.microsoft.com/office/drawing/2014/main" id="{85E3F22B-7376-41C8-DED3-23D7DF52A3E1}"/>
              </a:ext>
            </a:extLst>
          </p:cNvPr>
          <p:cNvSpPr/>
          <p:nvPr/>
        </p:nvSpPr>
        <p:spPr>
          <a:xfrm>
            <a:off x="11014710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資料庫</a:t>
            </a:r>
            <a:endParaRPr lang="en-US" sz="2200" dirty="0"/>
          </a:p>
        </p:txBody>
      </p:sp>
      <p:sp>
        <p:nvSpPr>
          <p:cNvPr id="10" name="Text 8">
            <a:extLst>
              <a:ext uri="{FF2B5EF4-FFF2-40B4-BE49-F238E27FC236}">
                <a16:creationId xmlns="" xmlns:a16="http://schemas.microsoft.com/office/drawing/2014/main" id="{AFEACC91-D35A-1C36-2BE3-BC754C6439CF}"/>
              </a:ext>
            </a:extLst>
          </p:cNvPr>
          <p:cNvSpPr/>
          <p:nvPr/>
        </p:nvSpPr>
        <p:spPr>
          <a:xfrm>
            <a:off x="11014710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MySQL 作為關聯式資料庫存儲系統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925474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0E5DFD86-DAA3-E24E-C115-87E2A3946D9F}"/>
              </a:ext>
            </a:extLst>
          </p:cNvPr>
          <p:cNvSpPr/>
          <p:nvPr/>
        </p:nvSpPr>
        <p:spPr>
          <a:xfrm>
            <a:off x="837724" y="2677239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系統架構概覽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837724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架構特色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837724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採用前後端分離，提升開發與維護效率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="" xmlns:a16="http://schemas.microsoft.com/office/drawing/2014/main" id="{E337984F-AB19-E82B-CA1A-1020BBE5AFF4}"/>
              </a:ext>
            </a:extLst>
          </p:cNvPr>
          <p:cNvSpPr/>
          <p:nvPr/>
        </p:nvSpPr>
        <p:spPr>
          <a:xfrm>
            <a:off x="4230053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前端技術</a:t>
            </a:r>
            <a:endParaRPr lang="en-US" sz="2200" dirty="0"/>
          </a:p>
        </p:txBody>
      </p:sp>
      <p:sp>
        <p:nvSpPr>
          <p:cNvPr id="6" name="Text 4">
            <a:extLst>
              <a:ext uri="{FF2B5EF4-FFF2-40B4-BE49-F238E27FC236}">
                <a16:creationId xmlns="" xmlns:a16="http://schemas.microsoft.com/office/drawing/2014/main" id="{AF2BE53D-7A2C-72E3-9CC9-CDE9FD836F92}"/>
              </a:ext>
            </a:extLst>
          </p:cNvPr>
          <p:cNvSpPr/>
          <p:nvPr/>
        </p:nvSpPr>
        <p:spPr>
          <a:xfrm>
            <a:off x="4230053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React 提供互動豐富的使用者介面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233D3FC9-5AEF-8357-5893-F40B55562D83}"/>
              </a:ext>
            </a:extLst>
          </p:cNvPr>
          <p:cNvSpPr/>
          <p:nvPr/>
        </p:nvSpPr>
        <p:spPr>
          <a:xfrm>
            <a:off x="7622381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後端技術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9EC85AF8-6AA8-2BD9-194E-FEA9430AE04C}"/>
              </a:ext>
            </a:extLst>
          </p:cNvPr>
          <p:cNvSpPr/>
          <p:nvPr/>
        </p:nvSpPr>
        <p:spPr>
          <a:xfrm>
            <a:off x="7622381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Spring Boot 負責業務邏輯與資料處理</a:t>
            </a:r>
            <a:endParaRPr lang="en-US" sz="1850" dirty="0"/>
          </a:p>
        </p:txBody>
      </p:sp>
      <p:sp>
        <p:nvSpPr>
          <p:cNvPr id="9" name="Text 7">
            <a:extLst>
              <a:ext uri="{FF2B5EF4-FFF2-40B4-BE49-F238E27FC236}">
                <a16:creationId xmlns="" xmlns:a16="http://schemas.microsoft.com/office/drawing/2014/main" id="{85E3F22B-7376-41C8-DED3-23D7DF52A3E1}"/>
              </a:ext>
            </a:extLst>
          </p:cNvPr>
          <p:cNvSpPr/>
          <p:nvPr/>
        </p:nvSpPr>
        <p:spPr>
          <a:xfrm>
            <a:off x="11014710" y="3979545"/>
            <a:ext cx="2800826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資料庫</a:t>
            </a:r>
            <a:endParaRPr lang="en-US" sz="2200" dirty="0"/>
          </a:p>
        </p:txBody>
      </p:sp>
      <p:sp>
        <p:nvSpPr>
          <p:cNvPr id="10" name="Text 8">
            <a:extLst>
              <a:ext uri="{FF2B5EF4-FFF2-40B4-BE49-F238E27FC236}">
                <a16:creationId xmlns="" xmlns:a16="http://schemas.microsoft.com/office/drawing/2014/main" id="{AFEACC91-D35A-1C36-2BE3-BC754C6439CF}"/>
              </a:ext>
            </a:extLst>
          </p:cNvPr>
          <p:cNvSpPr/>
          <p:nvPr/>
        </p:nvSpPr>
        <p:spPr>
          <a:xfrm>
            <a:off x="11014710" y="4570809"/>
            <a:ext cx="2800826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MySQL 作為關聯式資料庫存儲系統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258481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0E5DFD86-DAA3-E24E-C115-87E2A3946D9F}"/>
              </a:ext>
            </a:extLst>
          </p:cNvPr>
          <p:cNvSpPr/>
          <p:nvPr/>
        </p:nvSpPr>
        <p:spPr>
          <a:xfrm>
            <a:off x="694849" y="106751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 smtClean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系統架構</a:t>
            </a:r>
            <a:r>
              <a:rPr lang="zh-TW" altLang="en-US" sz="4400" dirty="0" smtClean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95" y="2301604"/>
            <a:ext cx="13068710" cy="414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113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smtClean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  <a:endParaRPr lang="en-US" sz="4400" dirty="0">
              <a:solidFill>
                <a:srgbClr val="FFFFFF"/>
              </a:solidFill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251" y="1516570"/>
            <a:ext cx="6629401" cy="6569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512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smtClean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  <a:endParaRPr lang="en-US" sz="4400" dirty="0">
              <a:solidFill>
                <a:srgbClr val="FFFFFF"/>
              </a:solidFill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453" y="1164562"/>
            <a:ext cx="5299129" cy="7096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82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smtClean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  <a:endParaRPr lang="en-US" sz="4400" dirty="0">
              <a:solidFill>
                <a:srgbClr val="FFFFFF"/>
              </a:solidFill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274" y="1164562"/>
            <a:ext cx="5655491" cy="692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9927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smtClean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  <a:endParaRPr lang="en-US" sz="4400" dirty="0">
              <a:solidFill>
                <a:srgbClr val="FFFFFF"/>
              </a:solidFill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6011" y="1422961"/>
            <a:ext cx="5751293" cy="645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47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A7F0C4F0-0F36-4ABB-1894-BDD61C4F5D4E}"/>
              </a:ext>
            </a:extLst>
          </p:cNvPr>
          <p:cNvSpPr/>
          <p:nvPr/>
        </p:nvSpPr>
        <p:spPr>
          <a:xfrm>
            <a:off x="847603" y="122419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ER</a:t>
            </a:r>
            <a:r>
              <a:rPr lang="zh-TW" alt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>
              <a:solidFill>
                <a:srgbClr val="FFFFFF"/>
              </a:solidFill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57535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前台功能：使用者體驗至上</a:t>
            </a:r>
            <a:endParaRPr lang="en-US" sz="4400" dirty="0"/>
          </a:p>
        </p:txBody>
      </p:sp>
      <p:sp>
        <p:nvSpPr>
          <p:cNvPr id="4" name="Shape 1">
            <a:extLst>
              <a:ext uri="{FF2B5EF4-FFF2-40B4-BE49-F238E27FC236}">
                <a16:creationId xmlns="" xmlns:a16="http://schemas.microsoft.com/office/drawing/2014/main" id="{6C660091-FD11-19F4-B101-AD493F3FAABB}"/>
              </a:ext>
            </a:extLst>
          </p:cNvPr>
          <p:cNvSpPr/>
          <p:nvPr/>
        </p:nvSpPr>
        <p:spPr>
          <a:xfrm>
            <a:off x="768150" y="2282091"/>
            <a:ext cx="3614618" cy="1740218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101A07B7-081B-4384-C963-FFC0D5B53663}"/>
              </a:ext>
            </a:extLst>
          </p:cNvPr>
          <p:cNvSpPr/>
          <p:nvPr/>
        </p:nvSpPr>
        <p:spPr>
          <a:xfrm>
            <a:off x="1007465" y="252140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最近看過商品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462400A2-D484-A8F3-CCF3-32E253FD6954}"/>
              </a:ext>
            </a:extLst>
          </p:cNvPr>
          <p:cNvSpPr/>
          <p:nvPr/>
        </p:nvSpPr>
        <p:spPr>
          <a:xfrm>
            <a:off x="1007465" y="3016945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追蹤瀏覽紀錄，方便用戶回顧商品</a:t>
            </a:r>
            <a:endParaRPr lang="en-US" sz="1850" dirty="0"/>
          </a:p>
        </p:txBody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061" y="2282091"/>
            <a:ext cx="9000000" cy="576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25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前台功能：使用者體驗至上</a:t>
            </a:r>
            <a:endParaRPr lang="en-US" sz="4400" dirty="0"/>
          </a:p>
        </p:txBody>
      </p:sp>
      <p:sp>
        <p:nvSpPr>
          <p:cNvPr id="13" name="Shape 4">
            <a:extLst>
              <a:ext uri="{FF2B5EF4-FFF2-40B4-BE49-F238E27FC236}">
                <a16:creationId xmlns="" xmlns:a16="http://schemas.microsoft.com/office/drawing/2014/main" id="{2B8FEFA1-65DA-DEEF-1B3F-0DC7ECD2278D}"/>
              </a:ext>
            </a:extLst>
          </p:cNvPr>
          <p:cNvSpPr/>
          <p:nvPr/>
        </p:nvSpPr>
        <p:spPr>
          <a:xfrm>
            <a:off x="768150" y="2282091"/>
            <a:ext cx="3614618" cy="1740218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購物車管理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新增、修改、刪除商品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79" y="2282091"/>
            <a:ext cx="9000000" cy="315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158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前台功能：使用者體驗至上</a:t>
            </a:r>
            <a:endParaRPr lang="en-US" sz="4400" dirty="0"/>
          </a:p>
        </p:txBody>
      </p:sp>
      <p:sp>
        <p:nvSpPr>
          <p:cNvPr id="13" name="Shape 4">
            <a:extLst>
              <a:ext uri="{FF2B5EF4-FFF2-40B4-BE49-F238E27FC236}">
                <a16:creationId xmlns="" xmlns:a16="http://schemas.microsoft.com/office/drawing/2014/main" id="{2B8FEFA1-65DA-DEEF-1B3F-0DC7ECD2278D}"/>
              </a:ext>
            </a:extLst>
          </p:cNvPr>
          <p:cNvSpPr/>
          <p:nvPr/>
        </p:nvSpPr>
        <p:spPr>
          <a:xfrm>
            <a:off x="768150" y="2282091"/>
            <a:ext cx="3614618" cy="1740218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通知中心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查看系統或管理員發送的個人化通知訊息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775" y="2282092"/>
            <a:ext cx="9000000" cy="1923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56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前台功能：使用者體驗至上</a:t>
            </a:r>
            <a:endParaRPr lang="en-US" sz="4400" dirty="0"/>
          </a:p>
        </p:txBody>
      </p:sp>
      <p:sp>
        <p:nvSpPr>
          <p:cNvPr id="13" name="Shape 4">
            <a:extLst>
              <a:ext uri="{FF2B5EF4-FFF2-40B4-BE49-F238E27FC236}">
                <a16:creationId xmlns="" xmlns:a16="http://schemas.microsoft.com/office/drawing/2014/main" id="{2B8FEFA1-65DA-DEEF-1B3F-0DC7ECD2278D}"/>
              </a:ext>
            </a:extLst>
          </p:cNvPr>
          <p:cNvSpPr/>
          <p:nvPr/>
        </p:nvSpPr>
        <p:spPr>
          <a:xfrm>
            <a:off x="768150" y="2282091"/>
            <a:ext cx="3614618" cy="1740218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我的收藏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收藏喜愛商品並可快速加入購物車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531" y="2282091"/>
            <a:ext cx="8841459" cy="4736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17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前台功能：使用者體驗至上</a:t>
            </a:r>
            <a:endParaRPr lang="en-US" sz="4400" dirty="0"/>
          </a:p>
        </p:txBody>
      </p:sp>
      <p:sp>
        <p:nvSpPr>
          <p:cNvPr id="13" name="Shape 4">
            <a:extLst>
              <a:ext uri="{FF2B5EF4-FFF2-40B4-BE49-F238E27FC236}">
                <a16:creationId xmlns="" xmlns:a16="http://schemas.microsoft.com/office/drawing/2014/main" id="{2B8FEFA1-65DA-DEEF-1B3F-0DC7ECD2278D}"/>
              </a:ext>
            </a:extLst>
          </p:cNvPr>
          <p:cNvSpPr/>
          <p:nvPr/>
        </p:nvSpPr>
        <p:spPr>
          <a:xfrm>
            <a:off x="768150" y="2282091"/>
            <a:ext cx="3614618" cy="1740218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 smtClean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訂單</a:t>
            </a: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管理</a:t>
            </a:r>
            <a:endParaRPr lang="en-US" sz="2200" dirty="0">
              <a:solidFill>
                <a:srgbClr val="CAD6DE"/>
              </a:solidFill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收藏喜愛商品並可快速加入購物車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625" y="2282091"/>
            <a:ext cx="7200000" cy="55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9089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=""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前台功能：使用者體驗至上</a:t>
            </a:r>
            <a:endParaRPr lang="en-US" sz="4400" dirty="0"/>
          </a:p>
        </p:txBody>
      </p:sp>
      <p:sp>
        <p:nvSpPr>
          <p:cNvPr id="13" name="Shape 4">
            <a:extLst>
              <a:ext uri="{FF2B5EF4-FFF2-40B4-BE49-F238E27FC236}">
                <a16:creationId xmlns="" xmlns:a16="http://schemas.microsoft.com/office/drawing/2014/main" id="{2B8FEFA1-65DA-DEEF-1B3F-0DC7ECD2278D}"/>
              </a:ext>
            </a:extLst>
          </p:cNvPr>
          <p:cNvSpPr/>
          <p:nvPr/>
        </p:nvSpPr>
        <p:spPr>
          <a:xfrm>
            <a:off x="768150" y="2282091"/>
            <a:ext cx="3614618" cy="1740218"/>
          </a:xfrm>
          <a:prstGeom prst="roundRect">
            <a:avLst>
              <a:gd name="adj" fmla="val 2063"/>
            </a:avLst>
          </a:prstGeom>
          <a:solidFill>
            <a:srgbClr val="304755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=""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 smtClean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修改</a:t>
            </a: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個人資料</a:t>
            </a:r>
            <a:endParaRPr lang="en-US" sz="2200" dirty="0">
              <a:solidFill>
                <a:srgbClr val="CAD6DE"/>
              </a:solidFill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=""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收藏喜愛商品並可快速加入購物車</a:t>
            </a: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067" y="2282091"/>
            <a:ext cx="5400000" cy="497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927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4BECE61C-96CC-4A9D-6230-C060D27295AB}"/>
              </a:ext>
            </a:extLst>
          </p:cNvPr>
          <p:cNvSpPr/>
          <p:nvPr/>
        </p:nvSpPr>
        <p:spPr>
          <a:xfrm>
            <a:off x="837724" y="246792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前台功能：會員中心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3F0623C5-E73C-1A4C-5B8B-B7BD4678909F}"/>
              </a:ext>
            </a:extLst>
          </p:cNvPr>
          <p:cNvSpPr/>
          <p:nvPr/>
        </p:nvSpPr>
        <p:spPr>
          <a:xfrm>
            <a:off x="837724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買家頁面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05FFC3A7-3EF2-9D59-70E3-4DDDB2E7C90F}"/>
              </a:ext>
            </a:extLst>
          </p:cNvPr>
          <p:cNvSpPr/>
          <p:nvPr/>
        </p:nvSpPr>
        <p:spPr>
          <a:xfrm>
            <a:off x="837724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訂單查詢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="" xmlns:a16="http://schemas.microsoft.com/office/drawing/2014/main" id="{2A873B31-1202-A43A-F7DC-6B32F75B7E88}"/>
              </a:ext>
            </a:extLst>
          </p:cNvPr>
          <p:cNvSpPr/>
          <p:nvPr/>
        </p:nvSpPr>
        <p:spPr>
          <a:xfrm>
            <a:off x="837724" y="482822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個人資料修改</a:t>
            </a:r>
            <a:endParaRPr lang="en-US" sz="1850" dirty="0"/>
          </a:p>
        </p:txBody>
      </p:sp>
      <p:sp>
        <p:nvSpPr>
          <p:cNvPr id="6" name="Text 4">
            <a:extLst>
              <a:ext uri="{FF2B5EF4-FFF2-40B4-BE49-F238E27FC236}">
                <a16:creationId xmlns="" xmlns:a16="http://schemas.microsoft.com/office/drawing/2014/main" id="{36ACA40E-3DB5-B9F5-BF28-EE89C3BA5D12}"/>
              </a:ext>
            </a:extLst>
          </p:cNvPr>
          <p:cNvSpPr/>
          <p:nvPr/>
        </p:nvSpPr>
        <p:spPr>
          <a:xfrm>
            <a:off x="837724" y="529494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收貨地址管理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A88F8A75-D9ED-614B-F440-BAE0B93102D5}"/>
              </a:ext>
            </a:extLst>
          </p:cNvPr>
          <p:cNvSpPr/>
          <p:nvPr/>
        </p:nvSpPr>
        <p:spPr>
          <a:xfrm>
            <a:off x="7614761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賣家頁面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31351CE4-7E2B-2C0D-3E71-2533994973CF}"/>
              </a:ext>
            </a:extLst>
          </p:cNvPr>
          <p:cNvSpPr/>
          <p:nvPr/>
        </p:nvSpPr>
        <p:spPr>
          <a:xfrm>
            <a:off x="7614761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訂單管理</a:t>
            </a:r>
            <a:endParaRPr lang="en-US" sz="1850" dirty="0"/>
          </a:p>
        </p:txBody>
      </p:sp>
      <p:sp>
        <p:nvSpPr>
          <p:cNvPr id="9" name="Text 7">
            <a:extLst>
              <a:ext uri="{FF2B5EF4-FFF2-40B4-BE49-F238E27FC236}">
                <a16:creationId xmlns="" xmlns:a16="http://schemas.microsoft.com/office/drawing/2014/main" id="{DCDAC237-05A6-1705-71C3-CBE3781D0812}"/>
              </a:ext>
            </a:extLst>
          </p:cNvPr>
          <p:cNvSpPr/>
          <p:nvPr/>
        </p:nvSpPr>
        <p:spPr>
          <a:xfrm>
            <a:off x="7614761" y="482822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商品上下架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="" xmlns:a16="http://schemas.microsoft.com/office/drawing/2014/main" id="{7F01AE55-69B8-B24D-BCC6-C9E377D93437}"/>
              </a:ext>
            </a:extLst>
          </p:cNvPr>
          <p:cNvSpPr/>
          <p:nvPr/>
        </p:nvSpPr>
        <p:spPr>
          <a:xfrm>
            <a:off x="7614761" y="529494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商品資訊修改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5594617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="" xmlns:a16="http://schemas.microsoft.com/office/drawing/2014/main" id="{DB78EE77-4E5E-99A8-7B93-3656A60E8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="" xmlns:a16="http://schemas.microsoft.com/office/drawing/2014/main" id="{5C17D3ED-A85C-614C-6F5F-0F8B4B8933E8}"/>
              </a:ext>
            </a:extLst>
          </p:cNvPr>
          <p:cNvSpPr/>
          <p:nvPr/>
        </p:nvSpPr>
        <p:spPr>
          <a:xfrm>
            <a:off x="6324124" y="2191583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前台功能：登錄/註冊</a:t>
            </a:r>
            <a:endParaRPr lang="en-US" sz="4400" dirty="0"/>
          </a:p>
        </p:txBody>
      </p:sp>
      <p:sp>
        <p:nvSpPr>
          <p:cNvPr id="4" name="Shape 1">
            <a:extLst>
              <a:ext uri="{FF2B5EF4-FFF2-40B4-BE49-F238E27FC236}">
                <a16:creationId xmlns="" xmlns:a16="http://schemas.microsoft.com/office/drawing/2014/main" id="{1B708920-7D83-2557-C5EE-969F363F688E}"/>
              </a:ext>
            </a:extLst>
          </p:cNvPr>
          <p:cNvSpPr/>
          <p:nvPr/>
        </p:nvSpPr>
        <p:spPr>
          <a:xfrm>
            <a:off x="6324124" y="3254573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525A2525-6238-2A2C-F363-D7B41FF84E72}"/>
              </a:ext>
            </a:extLst>
          </p:cNvPr>
          <p:cNvSpPr/>
          <p:nvPr/>
        </p:nvSpPr>
        <p:spPr>
          <a:xfrm>
            <a:off x="7101959" y="3336846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快速註冊流程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003E8AB1-B42E-162E-6AAE-453861A86BDA}"/>
              </a:ext>
            </a:extLst>
          </p:cNvPr>
          <p:cNvSpPr/>
          <p:nvPr/>
        </p:nvSpPr>
        <p:spPr>
          <a:xfrm>
            <a:off x="7101959" y="3832384"/>
            <a:ext cx="280689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支援 Email 與手機驗證，流程簡便</a:t>
            </a:r>
            <a:endParaRPr lang="en-US" sz="1850" dirty="0"/>
          </a:p>
        </p:txBody>
      </p:sp>
      <p:sp>
        <p:nvSpPr>
          <p:cNvPr id="7" name="Shape 4">
            <a:extLst>
              <a:ext uri="{FF2B5EF4-FFF2-40B4-BE49-F238E27FC236}">
                <a16:creationId xmlns="" xmlns:a16="http://schemas.microsoft.com/office/drawing/2014/main" id="{F36587D7-4551-5330-3E6B-68DE097B3EA7}"/>
              </a:ext>
            </a:extLst>
          </p:cNvPr>
          <p:cNvSpPr/>
          <p:nvPr/>
        </p:nvSpPr>
        <p:spPr>
          <a:xfrm>
            <a:off x="10208062" y="3254573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8" name="Text 5">
            <a:extLst>
              <a:ext uri="{FF2B5EF4-FFF2-40B4-BE49-F238E27FC236}">
                <a16:creationId xmlns="" xmlns:a16="http://schemas.microsoft.com/office/drawing/2014/main" id="{54375555-31C2-0C78-D98D-D284903CFEB0}"/>
              </a:ext>
            </a:extLst>
          </p:cNvPr>
          <p:cNvSpPr/>
          <p:nvPr/>
        </p:nvSpPr>
        <p:spPr>
          <a:xfrm>
            <a:off x="10985897" y="3336846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社交帳號登錄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="" xmlns:a16="http://schemas.microsoft.com/office/drawing/2014/main" id="{31FA1D24-44A2-B7ED-DA75-DCA52938D7E0}"/>
              </a:ext>
            </a:extLst>
          </p:cNvPr>
          <p:cNvSpPr/>
          <p:nvPr/>
        </p:nvSpPr>
        <p:spPr>
          <a:xfrm>
            <a:off x="10985897" y="3832384"/>
            <a:ext cx="280689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整合 Google、Facebook 等第三方登入</a:t>
            </a:r>
            <a:endParaRPr lang="en-US" sz="1850" dirty="0"/>
          </a:p>
        </p:txBody>
      </p:sp>
      <p:sp>
        <p:nvSpPr>
          <p:cNvPr id="10" name="Shape 7">
            <a:extLst>
              <a:ext uri="{FF2B5EF4-FFF2-40B4-BE49-F238E27FC236}">
                <a16:creationId xmlns="" xmlns:a16="http://schemas.microsoft.com/office/drawing/2014/main" id="{2CDEA406-0DE3-ED2A-DEDA-E72E1267A1F2}"/>
              </a:ext>
            </a:extLst>
          </p:cNvPr>
          <p:cNvSpPr/>
          <p:nvPr/>
        </p:nvSpPr>
        <p:spPr>
          <a:xfrm>
            <a:off x="6324124" y="5077182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F695FB61-72A5-A684-D20B-0E3BCF6F2DEE}"/>
              </a:ext>
            </a:extLst>
          </p:cNvPr>
          <p:cNvSpPr/>
          <p:nvPr/>
        </p:nvSpPr>
        <p:spPr>
          <a:xfrm>
            <a:off x="7101959" y="5159454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忘記密碼流程</a:t>
            </a:r>
            <a:endParaRPr lang="en-US" sz="2200" dirty="0"/>
          </a:p>
        </p:txBody>
      </p:sp>
      <p:sp>
        <p:nvSpPr>
          <p:cNvPr id="12" name="Text 9">
            <a:extLst>
              <a:ext uri="{FF2B5EF4-FFF2-40B4-BE49-F238E27FC236}">
                <a16:creationId xmlns="" xmlns:a16="http://schemas.microsoft.com/office/drawing/2014/main" id="{FC6D28B1-0043-283C-9FE5-8FB166F18ED9}"/>
              </a:ext>
            </a:extLst>
          </p:cNvPr>
          <p:cNvSpPr/>
          <p:nvPr/>
        </p:nvSpPr>
        <p:spPr>
          <a:xfrm>
            <a:off x="7101959" y="5654993"/>
            <a:ext cx="669071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簡易重設密碼功能，提升使用便利性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4051262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0" descr="preencoded.png">
            <a:extLst>
              <a:ext uri="{FF2B5EF4-FFF2-40B4-BE49-F238E27FC236}">
                <a16:creationId xmlns="" xmlns:a16="http://schemas.microsoft.com/office/drawing/2014/main" id="{859462BB-E089-1179-F12F-767A4553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=""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6324124" y="269640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後台功能：商品管理</a:t>
            </a:r>
            <a:endParaRPr lang="en-US" sz="4400" dirty="0"/>
          </a:p>
        </p:txBody>
      </p:sp>
      <p:sp>
        <p:nvSpPr>
          <p:cNvPr id="15" name="Shape 1">
            <a:extLst>
              <a:ext uri="{FF2B5EF4-FFF2-40B4-BE49-F238E27FC236}">
                <a16:creationId xmlns="" xmlns:a16="http://schemas.microsoft.com/office/drawing/2014/main" id="{A33C417B-80A3-1650-D9D1-6E4EF0A19D1E}"/>
              </a:ext>
            </a:extLst>
          </p:cNvPr>
          <p:cNvSpPr/>
          <p:nvPr/>
        </p:nvSpPr>
        <p:spPr>
          <a:xfrm>
            <a:off x="6324124" y="3759398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16" name="Text 2">
            <a:extLst>
              <a:ext uri="{FF2B5EF4-FFF2-40B4-BE49-F238E27FC236}">
                <a16:creationId xmlns=""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6862524" y="375939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商品新增與修改</a:t>
            </a:r>
            <a:endParaRPr lang="en-US" sz="2200" dirty="0"/>
          </a:p>
        </p:txBody>
      </p:sp>
      <p:sp>
        <p:nvSpPr>
          <p:cNvPr id="17" name="Shape 3">
            <a:extLst>
              <a:ext uri="{FF2B5EF4-FFF2-40B4-BE49-F238E27FC236}">
                <a16:creationId xmlns="" xmlns:a16="http://schemas.microsoft.com/office/drawing/2014/main" id="{D62AEC18-DF97-B119-A3E5-F51E0F2CE947}"/>
              </a:ext>
            </a:extLst>
          </p:cNvPr>
          <p:cNvSpPr/>
          <p:nvPr/>
        </p:nvSpPr>
        <p:spPr>
          <a:xfrm>
            <a:off x="6683097" y="4350663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18" name="Text 4">
            <a:extLst>
              <a:ext uri="{FF2B5EF4-FFF2-40B4-BE49-F238E27FC236}">
                <a16:creationId xmlns=""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7221498" y="435066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商品分類管理</a:t>
            </a:r>
            <a:endParaRPr lang="en-US" sz="2200" dirty="0"/>
          </a:p>
        </p:txBody>
      </p:sp>
      <p:sp>
        <p:nvSpPr>
          <p:cNvPr id="19" name="Shape 5">
            <a:extLst>
              <a:ext uri="{FF2B5EF4-FFF2-40B4-BE49-F238E27FC236}">
                <a16:creationId xmlns="" xmlns:a16="http://schemas.microsoft.com/office/drawing/2014/main" id="{5432BDA9-4F95-67D5-BEE4-D46E966D3BBE}"/>
              </a:ext>
            </a:extLst>
          </p:cNvPr>
          <p:cNvSpPr/>
          <p:nvPr/>
        </p:nvSpPr>
        <p:spPr>
          <a:xfrm>
            <a:off x="7042190" y="4941927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20" name="Text 6">
            <a:extLst>
              <a:ext uri="{FF2B5EF4-FFF2-40B4-BE49-F238E27FC236}">
                <a16:creationId xmlns=""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7580590" y="494192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圖片上傳與庫存管控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556485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FF282119-4EA9-A517-DBDB-E3E85B403388}"/>
              </a:ext>
            </a:extLst>
          </p:cNvPr>
          <p:cNvSpPr/>
          <p:nvPr/>
        </p:nvSpPr>
        <p:spPr>
          <a:xfrm>
            <a:off x="837724" y="2868811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後台功能：訂單管理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193BF335-732B-06E6-28AD-60684F263D36}"/>
              </a:ext>
            </a:extLst>
          </p:cNvPr>
          <p:cNvSpPr/>
          <p:nvPr/>
        </p:nvSpPr>
        <p:spPr>
          <a:xfrm>
            <a:off x="837724" y="417111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訂單查看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CC12874B-9579-9660-A9EA-0418C27E7014}"/>
              </a:ext>
            </a:extLst>
          </p:cNvPr>
          <p:cNvSpPr/>
          <p:nvPr/>
        </p:nvSpPr>
        <p:spPr>
          <a:xfrm>
            <a:off x="837724" y="4762381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查看詳細訂單與列表資訊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="" xmlns:a16="http://schemas.microsoft.com/office/drawing/2014/main" id="{2E46298F-797D-C4B8-9B03-B795D871DDC9}"/>
              </a:ext>
            </a:extLst>
          </p:cNvPr>
          <p:cNvSpPr/>
          <p:nvPr/>
        </p:nvSpPr>
        <p:spPr>
          <a:xfrm>
            <a:off x="5357813" y="417111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物流與付款模擬</a:t>
            </a:r>
            <a:endParaRPr lang="en-US" sz="2200" dirty="0"/>
          </a:p>
        </p:txBody>
      </p:sp>
      <p:sp>
        <p:nvSpPr>
          <p:cNvPr id="6" name="Text 4">
            <a:extLst>
              <a:ext uri="{FF2B5EF4-FFF2-40B4-BE49-F238E27FC236}">
                <a16:creationId xmlns="" xmlns:a16="http://schemas.microsoft.com/office/drawing/2014/main" id="{F85FCEB6-8CAF-E4EF-63B1-52A82BF19099}"/>
              </a:ext>
            </a:extLst>
          </p:cNvPr>
          <p:cNvSpPr/>
          <p:nvPr/>
        </p:nvSpPr>
        <p:spPr>
          <a:xfrm>
            <a:off x="5357813" y="4762381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按鈕控制狀態，模擬真實流程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0A81056F-F879-2EBD-35B9-32B96FEE2BEC}"/>
              </a:ext>
            </a:extLst>
          </p:cNvPr>
          <p:cNvSpPr/>
          <p:nvPr/>
        </p:nvSpPr>
        <p:spPr>
          <a:xfrm>
            <a:off x="9877901" y="417111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訂單匯出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1585B788-44A9-395B-ED48-48ED385E293F}"/>
              </a:ext>
            </a:extLst>
          </p:cNvPr>
          <p:cNvSpPr/>
          <p:nvPr/>
        </p:nvSpPr>
        <p:spPr>
          <a:xfrm>
            <a:off x="9877901" y="4762381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便於資料分析與報表製作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010883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="" xmlns:a16="http://schemas.microsoft.com/office/drawing/2014/main" id="{288E659A-E955-BF09-666C-1072F60B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="" xmlns:a16="http://schemas.microsoft.com/office/drawing/2014/main" id="{A2FB9310-4B85-E2EC-BA0D-8C555808BCA1}"/>
              </a:ext>
            </a:extLst>
          </p:cNvPr>
          <p:cNvSpPr/>
          <p:nvPr/>
        </p:nvSpPr>
        <p:spPr>
          <a:xfrm>
            <a:off x="6324124" y="210645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後台功能：使用者管理</a:t>
            </a:r>
            <a:endParaRPr lang="en-US" sz="4400" dirty="0"/>
          </a:p>
        </p:txBody>
      </p:sp>
      <p:sp>
        <p:nvSpPr>
          <p:cNvPr id="4" name="Shape 1">
            <a:extLst>
              <a:ext uri="{FF2B5EF4-FFF2-40B4-BE49-F238E27FC236}">
                <a16:creationId xmlns="" xmlns:a16="http://schemas.microsoft.com/office/drawing/2014/main" id="{BFE1C90B-B77A-517E-C76E-CEA973336C09}"/>
              </a:ext>
            </a:extLst>
          </p:cNvPr>
          <p:cNvSpPr/>
          <p:nvPr/>
        </p:nvSpPr>
        <p:spPr>
          <a:xfrm>
            <a:off x="6324124" y="3169444"/>
            <a:ext cx="3614618" cy="1357193"/>
          </a:xfrm>
          <a:prstGeom prst="roundRect">
            <a:avLst>
              <a:gd name="adj" fmla="val 2646"/>
            </a:avLst>
          </a:prstGeom>
          <a:solidFill>
            <a:srgbClr val="304755"/>
          </a:solidFill>
          <a:ln/>
        </p:spPr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648DA8B2-7BF2-2D26-5396-989491B30F15}"/>
              </a:ext>
            </a:extLst>
          </p:cNvPr>
          <p:cNvSpPr/>
          <p:nvPr/>
        </p:nvSpPr>
        <p:spPr>
          <a:xfrm>
            <a:off x="6563439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用戶資料管理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B95CB391-9D5A-148C-C8B0-56E4F14A860F}"/>
              </a:ext>
            </a:extLst>
          </p:cNvPr>
          <p:cNvSpPr/>
          <p:nvPr/>
        </p:nvSpPr>
        <p:spPr>
          <a:xfrm>
            <a:off x="6563439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查看與修改使用者資訊</a:t>
            </a:r>
            <a:endParaRPr lang="en-US" sz="1850" dirty="0"/>
          </a:p>
        </p:txBody>
      </p:sp>
      <p:sp>
        <p:nvSpPr>
          <p:cNvPr id="7" name="Shape 4">
            <a:extLst>
              <a:ext uri="{FF2B5EF4-FFF2-40B4-BE49-F238E27FC236}">
                <a16:creationId xmlns="" xmlns:a16="http://schemas.microsoft.com/office/drawing/2014/main" id="{8EDE9A02-B88A-90EB-1C23-EC94FE552F1D}"/>
              </a:ext>
            </a:extLst>
          </p:cNvPr>
          <p:cNvSpPr/>
          <p:nvPr/>
        </p:nvSpPr>
        <p:spPr>
          <a:xfrm>
            <a:off x="10178058" y="3169444"/>
            <a:ext cx="3614618" cy="1357193"/>
          </a:xfrm>
          <a:prstGeom prst="roundRect">
            <a:avLst>
              <a:gd name="adj" fmla="val 2646"/>
            </a:avLst>
          </a:prstGeom>
          <a:solidFill>
            <a:srgbClr val="304755"/>
          </a:solidFill>
          <a:ln/>
        </p:spPr>
      </p:sp>
      <p:sp>
        <p:nvSpPr>
          <p:cNvPr id="8" name="Text 5">
            <a:extLst>
              <a:ext uri="{FF2B5EF4-FFF2-40B4-BE49-F238E27FC236}">
                <a16:creationId xmlns="" xmlns:a16="http://schemas.microsoft.com/office/drawing/2014/main" id="{074E5190-BE68-FDE7-D4A0-DCD24C488AE1}"/>
              </a:ext>
            </a:extLst>
          </p:cNvPr>
          <p:cNvSpPr/>
          <p:nvPr/>
        </p:nvSpPr>
        <p:spPr>
          <a:xfrm>
            <a:off x="10417373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權限設定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="" xmlns:a16="http://schemas.microsoft.com/office/drawing/2014/main" id="{2FFF72BB-F1B7-B254-8443-418CD9DEB1B8}"/>
              </a:ext>
            </a:extLst>
          </p:cNvPr>
          <p:cNvSpPr/>
          <p:nvPr/>
        </p:nvSpPr>
        <p:spPr>
          <a:xfrm>
            <a:off x="10417373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區分買家、賣家與管理員角色</a:t>
            </a:r>
            <a:endParaRPr lang="en-US" sz="1850" dirty="0"/>
          </a:p>
        </p:txBody>
      </p:sp>
      <p:sp>
        <p:nvSpPr>
          <p:cNvPr id="10" name="Shape 7">
            <a:extLst>
              <a:ext uri="{FF2B5EF4-FFF2-40B4-BE49-F238E27FC236}">
                <a16:creationId xmlns="" xmlns:a16="http://schemas.microsoft.com/office/drawing/2014/main" id="{76C3A99A-72AD-E257-54EB-021DC6901740}"/>
              </a:ext>
            </a:extLst>
          </p:cNvPr>
          <p:cNvSpPr/>
          <p:nvPr/>
        </p:nvSpPr>
        <p:spPr>
          <a:xfrm>
            <a:off x="6324124" y="4765953"/>
            <a:ext cx="7468553" cy="1357193"/>
          </a:xfrm>
          <a:prstGeom prst="roundRect">
            <a:avLst>
              <a:gd name="adj" fmla="val 2646"/>
            </a:avLst>
          </a:prstGeom>
          <a:solidFill>
            <a:srgbClr val="304755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14EA59F5-94EC-671B-BA64-C9589F1B13C9}"/>
              </a:ext>
            </a:extLst>
          </p:cNvPr>
          <p:cNvSpPr/>
          <p:nvPr/>
        </p:nvSpPr>
        <p:spPr>
          <a:xfrm>
            <a:off x="6563439" y="500526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封鎖與解鎖</a:t>
            </a:r>
            <a:endParaRPr lang="en-US" sz="2200" dirty="0"/>
          </a:p>
        </p:txBody>
      </p:sp>
      <p:sp>
        <p:nvSpPr>
          <p:cNvPr id="12" name="Text 9">
            <a:extLst>
              <a:ext uri="{FF2B5EF4-FFF2-40B4-BE49-F238E27FC236}">
                <a16:creationId xmlns="" xmlns:a16="http://schemas.microsoft.com/office/drawing/2014/main" id="{A05DA9B1-DE03-EB76-D4AD-0087996F857A}"/>
              </a:ext>
            </a:extLst>
          </p:cNvPr>
          <p:cNvSpPr/>
          <p:nvPr/>
        </p:nvSpPr>
        <p:spPr>
          <a:xfrm>
            <a:off x="6563439" y="5500807"/>
            <a:ext cx="6989921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管理使用者存取權限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833832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="" xmlns:a16="http://schemas.microsoft.com/office/drawing/2014/main" id="{2EC8ADE7-7B70-A052-F02E-2A8B9BE3C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="" xmlns:a16="http://schemas.microsoft.com/office/drawing/2014/main" id="{8A25FD04-881C-3EC3-752C-F41973696412}"/>
              </a:ext>
            </a:extLst>
          </p:cNvPr>
          <p:cNvSpPr/>
          <p:nvPr/>
        </p:nvSpPr>
        <p:spPr>
          <a:xfrm>
            <a:off x="837724" y="1839516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後台功能：推薦系統與搜尋紀錄</a:t>
            </a:r>
            <a:endParaRPr lang="en-US" sz="4400" dirty="0"/>
          </a:p>
        </p:txBody>
      </p:sp>
      <p:sp>
        <p:nvSpPr>
          <p:cNvPr id="4" name="Shape 1">
            <a:extLst>
              <a:ext uri="{FF2B5EF4-FFF2-40B4-BE49-F238E27FC236}">
                <a16:creationId xmlns="" xmlns:a16="http://schemas.microsoft.com/office/drawing/2014/main" id="{BC43B4AB-2C8F-7BA6-EFEB-70BDEF76B4C0}"/>
              </a:ext>
            </a:extLst>
          </p:cNvPr>
          <p:cNvSpPr/>
          <p:nvPr/>
        </p:nvSpPr>
        <p:spPr>
          <a:xfrm>
            <a:off x="837724" y="3606522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5" name="Text 2">
            <a:extLst>
              <a:ext uri="{FF2B5EF4-FFF2-40B4-BE49-F238E27FC236}">
                <a16:creationId xmlns="" xmlns:a16="http://schemas.microsoft.com/office/drawing/2014/main" id="{D378F7F5-789B-2AF5-0F61-F8E4EC130904}"/>
              </a:ext>
            </a:extLst>
          </p:cNvPr>
          <p:cNvSpPr/>
          <p:nvPr/>
        </p:nvSpPr>
        <p:spPr>
          <a:xfrm>
            <a:off x="937974" y="3664506"/>
            <a:ext cx="337899" cy="4224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>
            <a:extLst>
              <a:ext uri="{FF2B5EF4-FFF2-40B4-BE49-F238E27FC236}">
                <a16:creationId xmlns="" xmlns:a16="http://schemas.microsoft.com/office/drawing/2014/main" id="{93B8F347-6623-DEB1-0AC6-0F75889CC9EA}"/>
              </a:ext>
            </a:extLst>
          </p:cNvPr>
          <p:cNvSpPr/>
          <p:nvPr/>
        </p:nvSpPr>
        <p:spPr>
          <a:xfrm>
            <a:off x="1615559" y="368879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推薦商品管理</a:t>
            </a:r>
            <a:endParaRPr lang="en-US" sz="2200" dirty="0"/>
          </a:p>
        </p:txBody>
      </p:sp>
      <p:sp>
        <p:nvSpPr>
          <p:cNvPr id="7" name="Text 4">
            <a:extLst>
              <a:ext uri="{FF2B5EF4-FFF2-40B4-BE49-F238E27FC236}">
                <a16:creationId xmlns="" xmlns:a16="http://schemas.microsoft.com/office/drawing/2014/main" id="{B39BACA9-D0BB-DFEA-0D21-CA26FA0C691B}"/>
              </a:ext>
            </a:extLst>
          </p:cNvPr>
          <p:cNvSpPr/>
          <p:nvPr/>
        </p:nvSpPr>
        <p:spPr>
          <a:xfrm>
            <a:off x="1615559" y="4184332"/>
            <a:ext cx="2806898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設定熱門與猜你喜歡商品</a:t>
            </a:r>
            <a:endParaRPr lang="en-US" sz="1850" dirty="0"/>
          </a:p>
        </p:txBody>
      </p:sp>
      <p:sp>
        <p:nvSpPr>
          <p:cNvPr id="8" name="Shape 5">
            <a:extLst>
              <a:ext uri="{FF2B5EF4-FFF2-40B4-BE49-F238E27FC236}">
                <a16:creationId xmlns="" xmlns:a16="http://schemas.microsoft.com/office/drawing/2014/main" id="{49CC9E44-22D5-D067-95CE-8E773BCDAA9F}"/>
              </a:ext>
            </a:extLst>
          </p:cNvPr>
          <p:cNvSpPr/>
          <p:nvPr/>
        </p:nvSpPr>
        <p:spPr>
          <a:xfrm>
            <a:off x="4721662" y="3606522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9" name="Text 6">
            <a:extLst>
              <a:ext uri="{FF2B5EF4-FFF2-40B4-BE49-F238E27FC236}">
                <a16:creationId xmlns="" xmlns:a16="http://schemas.microsoft.com/office/drawing/2014/main" id="{50933ABE-0DCE-B212-02CF-00213739500E}"/>
              </a:ext>
            </a:extLst>
          </p:cNvPr>
          <p:cNvSpPr/>
          <p:nvPr/>
        </p:nvSpPr>
        <p:spPr>
          <a:xfrm>
            <a:off x="4821912" y="3664506"/>
            <a:ext cx="337899" cy="4224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650" dirty="0"/>
          </a:p>
        </p:txBody>
      </p:sp>
      <p:sp>
        <p:nvSpPr>
          <p:cNvPr id="10" name="Text 7">
            <a:extLst>
              <a:ext uri="{FF2B5EF4-FFF2-40B4-BE49-F238E27FC236}">
                <a16:creationId xmlns="" xmlns:a16="http://schemas.microsoft.com/office/drawing/2014/main" id="{E90838E1-8BA6-D0B9-9937-4BB52878B86A}"/>
              </a:ext>
            </a:extLst>
          </p:cNvPr>
          <p:cNvSpPr/>
          <p:nvPr/>
        </p:nvSpPr>
        <p:spPr>
          <a:xfrm>
            <a:off x="5499497" y="368879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搜尋關鍵字分析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="" xmlns:a16="http://schemas.microsoft.com/office/drawing/2014/main" id="{CDEF5874-8177-DD87-681B-5A647433874F}"/>
              </a:ext>
            </a:extLst>
          </p:cNvPr>
          <p:cNvSpPr/>
          <p:nvPr/>
        </p:nvSpPr>
        <p:spPr>
          <a:xfrm>
            <a:off x="5499497" y="4184332"/>
            <a:ext cx="280689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監控與分析使用者搜尋行為</a:t>
            </a:r>
            <a:endParaRPr lang="en-US" sz="1850" dirty="0"/>
          </a:p>
        </p:txBody>
      </p:sp>
      <p:sp>
        <p:nvSpPr>
          <p:cNvPr id="12" name="Shape 9">
            <a:extLst>
              <a:ext uri="{FF2B5EF4-FFF2-40B4-BE49-F238E27FC236}">
                <a16:creationId xmlns="" xmlns:a16="http://schemas.microsoft.com/office/drawing/2014/main" id="{50EBA055-05F2-F726-C50D-0CA419365B7A}"/>
              </a:ext>
            </a:extLst>
          </p:cNvPr>
          <p:cNvSpPr/>
          <p:nvPr/>
        </p:nvSpPr>
        <p:spPr>
          <a:xfrm>
            <a:off x="837724" y="5429131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="" xmlns:a16="http://schemas.microsoft.com/office/drawing/2014/main" id="{3BCBA476-3368-29B8-0461-C5C6BC89C818}"/>
              </a:ext>
            </a:extLst>
          </p:cNvPr>
          <p:cNvSpPr/>
          <p:nvPr/>
        </p:nvSpPr>
        <p:spPr>
          <a:xfrm>
            <a:off x="937974" y="5487114"/>
            <a:ext cx="337899" cy="4224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650" dirty="0"/>
          </a:p>
        </p:txBody>
      </p:sp>
      <p:sp>
        <p:nvSpPr>
          <p:cNvPr id="14" name="Text 11">
            <a:extLst>
              <a:ext uri="{FF2B5EF4-FFF2-40B4-BE49-F238E27FC236}">
                <a16:creationId xmlns="" xmlns:a16="http://schemas.microsoft.com/office/drawing/2014/main" id="{A05CD35A-97F3-6100-48F1-F8564E1CA21D}"/>
              </a:ext>
            </a:extLst>
          </p:cNvPr>
          <p:cNvSpPr/>
          <p:nvPr/>
        </p:nvSpPr>
        <p:spPr>
          <a:xfrm>
            <a:off x="1615559" y="551140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瀏覽紀錄統計</a:t>
            </a:r>
            <a:endParaRPr lang="en-US" sz="2200" dirty="0"/>
          </a:p>
        </p:txBody>
      </p:sp>
      <p:sp>
        <p:nvSpPr>
          <p:cNvPr id="15" name="Text 12">
            <a:extLst>
              <a:ext uri="{FF2B5EF4-FFF2-40B4-BE49-F238E27FC236}">
                <a16:creationId xmlns="" xmlns:a16="http://schemas.microsoft.com/office/drawing/2014/main" id="{F6400D47-09BA-D12E-4952-3D12B933BE9C}"/>
              </a:ext>
            </a:extLst>
          </p:cNvPr>
          <p:cNvSpPr/>
          <p:nvPr/>
        </p:nvSpPr>
        <p:spPr>
          <a:xfrm>
            <a:off x="1615559" y="6006941"/>
            <a:ext cx="669071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深入理解用戶興趣與行為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9753420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="" xmlns:a16="http://schemas.microsoft.com/office/drawing/2014/main" id="{D86F5ABA-0B58-8CD4-CC56-B5665FB81ADD}"/>
              </a:ext>
            </a:extLst>
          </p:cNvPr>
          <p:cNvSpPr/>
          <p:nvPr/>
        </p:nvSpPr>
        <p:spPr>
          <a:xfrm>
            <a:off x="837724" y="246792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技術總結與未來展望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E8FEE2E1-1E85-EEEE-7325-2D108C73AF3D}"/>
              </a:ext>
            </a:extLst>
          </p:cNvPr>
          <p:cNvSpPr/>
          <p:nvPr/>
        </p:nvSpPr>
        <p:spPr>
          <a:xfrm>
            <a:off x="837724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技術棧優勢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71C51FCE-3E66-78F1-6A11-6A5C36BF09F3}"/>
              </a:ext>
            </a:extLst>
          </p:cNvPr>
          <p:cNvSpPr/>
          <p:nvPr/>
        </p:nvSpPr>
        <p:spPr>
          <a:xfrm>
            <a:off x="837724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React 靈活前端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="" xmlns:a16="http://schemas.microsoft.com/office/drawing/2014/main" id="{A40FCDB0-C86F-254E-A3E2-9DCE2297BBA6}"/>
              </a:ext>
            </a:extLst>
          </p:cNvPr>
          <p:cNvSpPr/>
          <p:nvPr/>
        </p:nvSpPr>
        <p:spPr>
          <a:xfrm>
            <a:off x="837724" y="482822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Spring Boot 強大後端</a:t>
            </a:r>
            <a:endParaRPr lang="en-US" sz="1850" dirty="0"/>
          </a:p>
        </p:txBody>
      </p:sp>
      <p:sp>
        <p:nvSpPr>
          <p:cNvPr id="6" name="Text 4">
            <a:extLst>
              <a:ext uri="{FF2B5EF4-FFF2-40B4-BE49-F238E27FC236}">
                <a16:creationId xmlns="" xmlns:a16="http://schemas.microsoft.com/office/drawing/2014/main" id="{EF21B18F-99E9-492C-5B8C-DE9CA44812F5}"/>
              </a:ext>
            </a:extLst>
          </p:cNvPr>
          <p:cNvSpPr/>
          <p:nvPr/>
        </p:nvSpPr>
        <p:spPr>
          <a:xfrm>
            <a:off x="837724" y="529494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MySQL 穩定資料庫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="" xmlns:a16="http://schemas.microsoft.com/office/drawing/2014/main" id="{86BEF0FC-6390-1497-F4EC-574402A2FE09}"/>
              </a:ext>
            </a:extLst>
          </p:cNvPr>
          <p:cNvSpPr/>
          <p:nvPr/>
        </p:nvSpPr>
        <p:spPr>
          <a:xfrm>
            <a:off x="7614761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未來功能擴展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="" xmlns:a16="http://schemas.microsoft.com/office/drawing/2014/main" id="{80252D43-CF65-35D9-E01C-9E4F536F7CC7}"/>
              </a:ext>
            </a:extLst>
          </p:cNvPr>
          <p:cNvSpPr/>
          <p:nvPr/>
        </p:nvSpPr>
        <p:spPr>
          <a:xfrm>
            <a:off x="7614761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整合真實物流與支付</a:t>
            </a:r>
            <a:endParaRPr lang="en-US" sz="1850" dirty="0"/>
          </a:p>
        </p:txBody>
      </p:sp>
      <p:sp>
        <p:nvSpPr>
          <p:cNvPr id="9" name="Text 7">
            <a:extLst>
              <a:ext uri="{FF2B5EF4-FFF2-40B4-BE49-F238E27FC236}">
                <a16:creationId xmlns="" xmlns:a16="http://schemas.microsoft.com/office/drawing/2014/main" id="{21DC604F-7348-3AC8-09C2-35F3B8C2DDBE}"/>
              </a:ext>
            </a:extLst>
          </p:cNvPr>
          <p:cNvSpPr/>
          <p:nvPr/>
        </p:nvSpPr>
        <p:spPr>
          <a:xfrm>
            <a:off x="7614761" y="482822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行銷模組與促銷活動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="" xmlns:a16="http://schemas.microsoft.com/office/drawing/2014/main" id="{D611A246-5FF8-10E3-B3D6-9B1DA498610E}"/>
              </a:ext>
            </a:extLst>
          </p:cNvPr>
          <p:cNvSpPr/>
          <p:nvPr/>
        </p:nvSpPr>
        <p:spPr>
          <a:xfrm>
            <a:off x="7614761" y="529494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AI 個性化推薦系統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389910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312</TotalTime>
  <Words>267</Words>
  <Application>Microsoft Office PowerPoint</Application>
  <PresentationFormat>自訂</PresentationFormat>
  <Paragraphs>107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Cabin</vt:lpstr>
      <vt:lpstr>Unbounded</vt:lpstr>
      <vt:lpstr>新細明體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National Taipei University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NTPU</dc:creator>
  <cp:lastModifiedBy>USER</cp:lastModifiedBy>
  <cp:revision>11</cp:revision>
  <dcterms:created xsi:type="dcterms:W3CDTF">2025-05-09T05:56:55Z</dcterms:created>
  <dcterms:modified xsi:type="dcterms:W3CDTF">2025-06-23T12:39:40Z</dcterms:modified>
</cp:coreProperties>
</file>